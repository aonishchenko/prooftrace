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and pause. What did you put on your skin this morning? Soap, cream, shampoo, deodorant, perfume. Now: how do you know it is what it says? The labels tell us natural, clean, cruelty-free, ethically sourced, kind to the planet. We trust those words with our bodies and with the planet, every single day. But most of us have never seen the proof behind them.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ProofTrace is simple to use. Paste a product page. The agent reads the claim, works out what proof it needs, looks for it, and gives one of three verdicts: Backed, Vague, or Evidence not public. Every result ends with a next step. We never say a claim is false. We say what the public evidence shows.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real claims from beauty brands, checked on 26 September 2026. For the cruelty-free claim, the agent goes to the independent certifier and confirms it: Backed. For 'ethically sourced', it finds some evidence, but the words cover more than the proof: Vague. For the refill savings, the claim is precise, but the numbers behind it are not public, so the agent drafts a request to the brand. Three claims, three different behaviours. Now the live demo. (About 30 seconds, then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pays? We already do. With our money, our health and our planet, every time we trust a label. What touches our skin every day should be what it says. Knowing brings peace of mind. And every unchecked promise hides a real cost somewhere in the supply chain. So who pays for ProofTrace? Brands and retailers, to check their claims before they reach us. One page today; hundreds of supplier pages at a time tomorrow.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where claims touch us most: beauty. Soap, cream, shampoo, deodorant, perfume. Today's demo checks real beauty claims, live. So, now that you can see what is behind a claim, what will you check first? [Add your ask.] (About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420"/>
        </a:solidFill>
      </p:bgPr>
    </p:bg>
    <p:spTree>
      <p:nvGrpSpPr>
        <p:cNvPr id="1" name=""/>
        <p:cNvGrpSpPr/>
        <p:nvPr/>
      </p:nvGrpSpPr>
      <p:grpSpPr>
        <a:xfrm>
          <a:off x="0" y="0"/>
          <a:ext cx="0" cy="0"/>
          <a:chOff x="0" y="0"/>
          <a:chExt cx="0" cy="0"/>
        </a:xfrm>
      </p:grpSpPr>
      <p:sp>
        <p:nvSpPr>
          <p:cNvPr id="2" name="Text 0"/>
          <p:cNvSpPr txBox="1"/>
          <p:nvPr/>
        </p:nvSpPr>
        <p:spPr>
          <a:xfrm>
            <a:off x="548640" y="411480"/>
            <a:ext cx="2743200" cy="457200"/>
          </a:xfrm>
          <a:prstGeom prst="rect">
            <a:avLst/>
          </a:prstGeom>
          <a:noFill/>
          <a:ln/>
        </p:spPr>
        <p:txBody>
          <a:bodyPr wrap="square" lIns="0" tIns="0" rIns="0" bIns="0" rtlCol="0" anchor="ctr"/>
          <a:lstStyle/>
          <a:p>
            <a:pPr indent="0" marL="0">
              <a:buNone/>
            </a:pPr>
            <a:r>
              <a:rPr lang="en-US" sz="2400" dirty="0">
                <a:solidFill>
                  <a:srgbClr val="FFFFFF"/>
                </a:solidFill>
                <a:latin typeface="Cambria" pitchFamily="34" charset="0"/>
                <a:ea typeface="Cambria" pitchFamily="34" charset="-122"/>
                <a:cs typeface="Cambria" pitchFamily="34" charset="-120"/>
              </a:rPr>
              <a:t>Proof</a:t>
            </a:r>
            <a:pPr indent="0" marL="0">
              <a:buNone/>
            </a:pPr>
            <a:r>
              <a:rPr lang="en-US" sz="2400" u="sng" dirty="0">
                <a:solidFill>
                  <a:srgbClr val="FFFFFF"/>
                </a:solidFill>
                <a:uFill>
                  <a:solidFill>
                    <a:srgbClr val="F2B33D"/>
                  </a:solidFill>
                </a:uFill>
                <a:latin typeface="Cambria" pitchFamily="34" charset="0"/>
                <a:ea typeface="Cambria" pitchFamily="34" charset="-122"/>
                <a:cs typeface="Cambria" pitchFamily="34" charset="-120"/>
              </a:rPr>
              <a:t>Trace</a:t>
            </a:r>
            <a:endParaRPr lang="en-US" sz="2400" dirty="0"/>
          </a:p>
        </p:txBody>
      </p:sp>
      <p:sp>
        <p:nvSpPr>
          <p:cNvPr id="3" name="Shape 1"/>
          <p:cNvSpPr/>
          <p:nvPr/>
        </p:nvSpPr>
        <p:spPr>
          <a:xfrm>
            <a:off x="2011680" y="384048"/>
            <a:ext cx="219456" cy="219456"/>
          </a:xfrm>
          <a:prstGeom prst="ellipse">
            <a:avLst/>
          </a:prstGeom>
          <a:solidFill>
            <a:srgbClr val="C4501A"/>
          </a:solidFill>
          <a:ln w="12700">
            <a:solidFill>
              <a:srgbClr val="C4501A"/>
            </a:solidFill>
            <a:prstDash val="solid"/>
          </a:ln>
        </p:spPr>
      </p:sp>
      <p:pic>
        <p:nvPicPr>
          <p:cNvPr id="4" name="Image 0" descr="preencoded.png">    </p:cNvPr>
          <p:cNvPicPr>
            <a:picLocks noChangeAspect="1"/>
          </p:cNvPicPr>
          <p:nvPr/>
        </p:nvPicPr>
        <p:blipFill>
          <a:blip r:embed="rId1"/>
          <a:stretch>
            <a:fillRect/>
          </a:stretch>
        </p:blipFill>
        <p:spPr>
          <a:xfrm>
            <a:off x="2057400" y="429768"/>
            <a:ext cx="128016" cy="128016"/>
          </a:xfrm>
          <a:prstGeom prst="rect">
            <a:avLst/>
          </a:prstGeom>
        </p:spPr>
      </p:pic>
      <p:sp>
        <p:nvSpPr>
          <p:cNvPr id="5" name="Text 2"/>
          <p:cNvSpPr txBox="1"/>
          <p:nvPr/>
        </p:nvSpPr>
        <p:spPr>
          <a:xfrm>
            <a:off x="548640" y="1325880"/>
            <a:ext cx="10789920" cy="914400"/>
          </a:xfrm>
          <a:prstGeom prst="rect">
            <a:avLst/>
          </a:prstGeom>
          <a:noFill/>
          <a:ln/>
        </p:spPr>
        <p:txBody>
          <a:bodyPr wrap="square" lIns="0" tIns="0" rIns="0" bIns="0" rtlCol="0" anchor="ctr"/>
          <a:lstStyle/>
          <a:p>
            <a:pPr indent="0" marL="0">
              <a:buNone/>
            </a:pPr>
            <a:r>
              <a:rPr lang="en-US" sz="4400" dirty="0">
                <a:solidFill>
                  <a:srgbClr val="FFFFFF"/>
                </a:solidFill>
                <a:latin typeface="Cambria" pitchFamily="34" charset="0"/>
                <a:ea typeface="Cambria" pitchFamily="34" charset="-122"/>
                <a:cs typeface="Cambria" pitchFamily="34" charset="-120"/>
              </a:rPr>
              <a:t>What did you put on your skin this morning?</a:t>
            </a:r>
            <a:endParaRPr lang="en-US" sz="4400" dirty="0"/>
          </a:p>
        </p:txBody>
      </p:sp>
      <p:sp>
        <p:nvSpPr>
          <p:cNvPr id="6" name="Text 3"/>
          <p:cNvSpPr txBox="1"/>
          <p:nvPr/>
        </p:nvSpPr>
        <p:spPr>
          <a:xfrm>
            <a:off x="548640" y="2240280"/>
            <a:ext cx="10789920" cy="914400"/>
          </a:xfrm>
          <a:prstGeom prst="rect">
            <a:avLst/>
          </a:prstGeom>
          <a:noFill/>
          <a:ln/>
        </p:spPr>
        <p:txBody>
          <a:bodyPr wrap="square" lIns="0" tIns="0" rIns="0" bIns="0" rtlCol="0" anchor="ctr"/>
          <a:lstStyle/>
          <a:p>
            <a:pPr indent="0" marL="0">
              <a:buNone/>
            </a:pPr>
            <a:r>
              <a:rPr lang="en-US" sz="4400" dirty="0">
                <a:solidFill>
                  <a:srgbClr val="F2B33D"/>
                </a:solidFill>
                <a:latin typeface="Cambria" pitchFamily="34" charset="0"/>
                <a:ea typeface="Cambria" pitchFamily="34" charset="-122"/>
                <a:cs typeface="Cambria" pitchFamily="34" charset="-120"/>
              </a:rPr>
              <a:t>And how do you know it is what it says?</a:t>
            </a:r>
            <a:endParaRPr lang="en-US" sz="4400" dirty="0"/>
          </a:p>
        </p:txBody>
      </p:sp>
      <p:sp>
        <p:nvSpPr>
          <p:cNvPr id="7" name="Shape 4"/>
          <p:cNvSpPr/>
          <p:nvPr/>
        </p:nvSpPr>
        <p:spPr>
          <a:xfrm>
            <a:off x="548640" y="3840480"/>
            <a:ext cx="1417320" cy="548640"/>
          </a:xfrm>
          <a:prstGeom prst="roundRect">
            <a:avLst>
              <a:gd name="adj" fmla="val 50000"/>
            </a:avLst>
          </a:prstGeom>
          <a:solidFill>
            <a:srgbClr val="3A312C"/>
          </a:solidFill>
          <a:ln w="12700">
            <a:solidFill>
              <a:srgbClr val="5A4D45"/>
            </a:solidFill>
            <a:prstDash val="solid"/>
          </a:ln>
        </p:spPr>
      </p:sp>
      <p:sp>
        <p:nvSpPr>
          <p:cNvPr id="8" name="Text 5"/>
          <p:cNvSpPr txBox="1"/>
          <p:nvPr/>
        </p:nvSpPr>
        <p:spPr>
          <a:xfrm>
            <a:off x="548640" y="3840480"/>
            <a:ext cx="1417320" cy="548640"/>
          </a:xfrm>
          <a:prstGeom prst="rect">
            <a:avLst/>
          </a:prstGeom>
          <a:noFill/>
          <a:ln/>
        </p:spPr>
        <p:txBody>
          <a:bodyPr wrap="square" lIns="0" tIns="0" rIns="0" bIns="0"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“Natural”</a:t>
            </a:r>
            <a:endParaRPr lang="en-US" sz="1700" dirty="0"/>
          </a:p>
        </p:txBody>
      </p:sp>
      <p:sp>
        <p:nvSpPr>
          <p:cNvPr id="9" name="Shape 6"/>
          <p:cNvSpPr/>
          <p:nvPr/>
        </p:nvSpPr>
        <p:spPr>
          <a:xfrm>
            <a:off x="2167128" y="3840480"/>
            <a:ext cx="1188720" cy="548640"/>
          </a:xfrm>
          <a:prstGeom prst="roundRect">
            <a:avLst>
              <a:gd name="adj" fmla="val 50000"/>
            </a:avLst>
          </a:prstGeom>
          <a:solidFill>
            <a:srgbClr val="3A312C"/>
          </a:solidFill>
          <a:ln w="12700">
            <a:solidFill>
              <a:srgbClr val="5A4D45"/>
            </a:solidFill>
            <a:prstDash val="solid"/>
          </a:ln>
        </p:spPr>
      </p:sp>
      <p:sp>
        <p:nvSpPr>
          <p:cNvPr id="10" name="Text 7"/>
          <p:cNvSpPr txBox="1"/>
          <p:nvPr/>
        </p:nvSpPr>
        <p:spPr>
          <a:xfrm>
            <a:off x="2167128" y="3840480"/>
            <a:ext cx="1188720" cy="548640"/>
          </a:xfrm>
          <a:prstGeom prst="rect">
            <a:avLst/>
          </a:prstGeom>
          <a:noFill/>
          <a:ln/>
        </p:spPr>
        <p:txBody>
          <a:bodyPr wrap="square" lIns="0" tIns="0" rIns="0" bIns="0"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“Clean”</a:t>
            </a:r>
            <a:endParaRPr lang="en-US" sz="1700" dirty="0"/>
          </a:p>
        </p:txBody>
      </p:sp>
      <p:sp>
        <p:nvSpPr>
          <p:cNvPr id="11" name="Shape 8"/>
          <p:cNvSpPr/>
          <p:nvPr/>
        </p:nvSpPr>
        <p:spPr>
          <a:xfrm>
            <a:off x="3557016" y="3840480"/>
            <a:ext cx="1783080" cy="548640"/>
          </a:xfrm>
          <a:prstGeom prst="roundRect">
            <a:avLst>
              <a:gd name="adj" fmla="val 50000"/>
            </a:avLst>
          </a:prstGeom>
          <a:solidFill>
            <a:srgbClr val="3A312C"/>
          </a:solidFill>
          <a:ln w="12700">
            <a:solidFill>
              <a:srgbClr val="5A4D45"/>
            </a:solidFill>
            <a:prstDash val="solid"/>
          </a:ln>
        </p:spPr>
      </p:sp>
      <p:sp>
        <p:nvSpPr>
          <p:cNvPr id="12" name="Text 9"/>
          <p:cNvSpPr txBox="1"/>
          <p:nvPr/>
        </p:nvSpPr>
        <p:spPr>
          <a:xfrm>
            <a:off x="3557016" y="3840480"/>
            <a:ext cx="1783080" cy="548640"/>
          </a:xfrm>
          <a:prstGeom prst="rect">
            <a:avLst/>
          </a:prstGeom>
          <a:noFill/>
          <a:ln/>
        </p:spPr>
        <p:txBody>
          <a:bodyPr wrap="square" lIns="0" tIns="0" rIns="0" bIns="0"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“Cruelty-free”</a:t>
            </a:r>
            <a:endParaRPr lang="en-US" sz="1700" dirty="0"/>
          </a:p>
        </p:txBody>
      </p:sp>
      <p:sp>
        <p:nvSpPr>
          <p:cNvPr id="13" name="Shape 10"/>
          <p:cNvSpPr/>
          <p:nvPr/>
        </p:nvSpPr>
        <p:spPr>
          <a:xfrm>
            <a:off x="5541264" y="3840480"/>
            <a:ext cx="2286000" cy="548640"/>
          </a:xfrm>
          <a:prstGeom prst="roundRect">
            <a:avLst>
              <a:gd name="adj" fmla="val 50000"/>
            </a:avLst>
          </a:prstGeom>
          <a:solidFill>
            <a:srgbClr val="3A312C"/>
          </a:solidFill>
          <a:ln w="12700">
            <a:solidFill>
              <a:srgbClr val="5A4D45"/>
            </a:solidFill>
            <a:prstDash val="solid"/>
          </a:ln>
        </p:spPr>
      </p:sp>
      <p:sp>
        <p:nvSpPr>
          <p:cNvPr id="14" name="Text 11"/>
          <p:cNvSpPr txBox="1"/>
          <p:nvPr/>
        </p:nvSpPr>
        <p:spPr>
          <a:xfrm>
            <a:off x="5541264" y="3840480"/>
            <a:ext cx="2286000" cy="548640"/>
          </a:xfrm>
          <a:prstGeom prst="rect">
            <a:avLst/>
          </a:prstGeom>
          <a:noFill/>
          <a:ln/>
        </p:spPr>
        <p:txBody>
          <a:bodyPr wrap="square" lIns="0" tIns="0" rIns="0" bIns="0"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“Ethically sourced”</a:t>
            </a:r>
            <a:endParaRPr lang="en-US" sz="1700" dirty="0"/>
          </a:p>
        </p:txBody>
      </p:sp>
      <p:sp>
        <p:nvSpPr>
          <p:cNvPr id="15" name="Shape 12"/>
          <p:cNvSpPr/>
          <p:nvPr/>
        </p:nvSpPr>
        <p:spPr>
          <a:xfrm>
            <a:off x="8028432" y="3840480"/>
            <a:ext cx="2423160" cy="548640"/>
          </a:xfrm>
          <a:prstGeom prst="roundRect">
            <a:avLst>
              <a:gd name="adj" fmla="val 50000"/>
            </a:avLst>
          </a:prstGeom>
          <a:solidFill>
            <a:srgbClr val="3A312C"/>
          </a:solidFill>
          <a:ln w="12700">
            <a:solidFill>
              <a:srgbClr val="5A4D45"/>
            </a:solidFill>
            <a:prstDash val="solid"/>
          </a:ln>
        </p:spPr>
      </p:sp>
      <p:sp>
        <p:nvSpPr>
          <p:cNvPr id="16" name="Text 13"/>
          <p:cNvSpPr txBox="1"/>
          <p:nvPr/>
        </p:nvSpPr>
        <p:spPr>
          <a:xfrm>
            <a:off x="8028432" y="3840480"/>
            <a:ext cx="2423160" cy="548640"/>
          </a:xfrm>
          <a:prstGeom prst="rect">
            <a:avLst/>
          </a:prstGeom>
          <a:noFill/>
          <a:ln/>
        </p:spPr>
        <p:txBody>
          <a:bodyPr wrap="square" lIns="0" tIns="0" rIns="0" bIns="0"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“Kind to the planet”</a:t>
            </a:r>
            <a:endParaRPr lang="en-US" sz="1700" dirty="0"/>
          </a:p>
        </p:txBody>
      </p:sp>
      <p:sp>
        <p:nvSpPr>
          <p:cNvPr id="17" name="Text 14"/>
          <p:cNvSpPr txBox="1"/>
          <p:nvPr/>
        </p:nvSpPr>
        <p:spPr>
          <a:xfrm>
            <a:off x="548640" y="4800600"/>
            <a:ext cx="9601200" cy="822960"/>
          </a:xfrm>
          <a:prstGeom prst="rect">
            <a:avLst/>
          </a:prstGeom>
          <a:noFill/>
          <a:ln/>
        </p:spPr>
        <p:txBody>
          <a:bodyPr wrap="square" lIns="0" tIns="0" rIns="0" bIns="0" rtlCol="0" anchor="ctr"/>
          <a:lstStyle/>
          <a:p>
            <a:pPr indent="0" marL="0">
              <a:buNone/>
            </a:pPr>
            <a:r>
              <a:rPr lang="en-US" sz="1800" dirty="0">
                <a:solidFill>
                  <a:srgbClr val="D9CFC6"/>
                </a:solidFill>
                <a:latin typeface="Calibri" pitchFamily="34" charset="0"/>
                <a:ea typeface="Calibri" pitchFamily="34" charset="-122"/>
                <a:cs typeface="Calibri" pitchFamily="34" charset="-120"/>
              </a:rPr>
              <a:t>Soap, cream, shampoo, deodorant, perfume. We trust these words with our health and our planet, every day. Most of us never see the proof behind them.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8F2"/>
        </a:solidFill>
      </p:bgPr>
    </p:bg>
    <p:spTree>
      <p:nvGrpSpPr>
        <p:cNvPr id="1" name=""/>
        <p:cNvGrpSpPr/>
        <p:nvPr/>
      </p:nvGrpSpPr>
      <p:grpSpPr>
        <a:xfrm>
          <a:off x="0" y="0"/>
          <a:ext cx="0" cy="0"/>
          <a:chOff x="0" y="0"/>
          <a:chExt cx="0" cy="0"/>
        </a:xfrm>
      </p:grpSpPr>
      <p:sp>
        <p:nvSpPr>
          <p:cNvPr id="2" name="Text 0"/>
          <p:cNvSpPr txBox="1"/>
          <p:nvPr/>
        </p:nvSpPr>
        <p:spPr>
          <a:xfrm>
            <a:off x="548640" y="411480"/>
            <a:ext cx="2743200" cy="457200"/>
          </a:xfrm>
          <a:prstGeom prst="rect">
            <a:avLst/>
          </a:prstGeom>
          <a:noFill/>
          <a:ln/>
        </p:spPr>
        <p:txBody>
          <a:bodyPr wrap="square" lIns="0" tIns="0" rIns="0" bIns="0" rtlCol="0" anchor="ctr"/>
          <a:lstStyle/>
          <a:p>
            <a:pPr indent="0" marL="0">
              <a:buNone/>
            </a:pPr>
            <a:r>
              <a:rPr lang="en-US" sz="2400" dirty="0">
                <a:solidFill>
                  <a:srgbClr val="2B2420"/>
                </a:solidFill>
                <a:latin typeface="Cambria" pitchFamily="34" charset="0"/>
                <a:ea typeface="Cambria" pitchFamily="34" charset="-122"/>
                <a:cs typeface="Cambria" pitchFamily="34" charset="-120"/>
              </a:rPr>
              <a:t>Proof</a:t>
            </a:r>
            <a:pPr indent="0" marL="0">
              <a:buNone/>
            </a:pPr>
            <a:r>
              <a:rPr lang="en-US" sz="2400" u="sng" dirty="0">
                <a:solidFill>
                  <a:srgbClr val="2B2420"/>
                </a:solidFill>
                <a:uFill>
                  <a:solidFill>
                    <a:srgbClr val="F2B33D"/>
                  </a:solidFill>
                </a:uFill>
                <a:latin typeface="Cambria" pitchFamily="34" charset="0"/>
                <a:ea typeface="Cambria" pitchFamily="34" charset="-122"/>
                <a:cs typeface="Cambria" pitchFamily="34" charset="-120"/>
              </a:rPr>
              <a:t>Trace</a:t>
            </a:r>
            <a:endParaRPr lang="en-US" sz="2400" dirty="0"/>
          </a:p>
        </p:txBody>
      </p:sp>
      <p:sp>
        <p:nvSpPr>
          <p:cNvPr id="3" name="Shape 1"/>
          <p:cNvSpPr/>
          <p:nvPr/>
        </p:nvSpPr>
        <p:spPr>
          <a:xfrm>
            <a:off x="2011680" y="384048"/>
            <a:ext cx="219456" cy="219456"/>
          </a:xfrm>
          <a:prstGeom prst="ellipse">
            <a:avLst/>
          </a:prstGeom>
          <a:solidFill>
            <a:srgbClr val="C4501A"/>
          </a:solidFill>
          <a:ln w="12700">
            <a:solidFill>
              <a:srgbClr val="C4501A"/>
            </a:solidFill>
            <a:prstDash val="solid"/>
          </a:ln>
        </p:spPr>
      </p:sp>
      <p:pic>
        <p:nvPicPr>
          <p:cNvPr id="4" name="Image 0" descr="preencoded.png">    </p:cNvPr>
          <p:cNvPicPr>
            <a:picLocks noChangeAspect="1"/>
          </p:cNvPicPr>
          <p:nvPr/>
        </p:nvPicPr>
        <p:blipFill>
          <a:blip r:embed="rId1"/>
          <a:stretch>
            <a:fillRect/>
          </a:stretch>
        </p:blipFill>
        <p:spPr>
          <a:xfrm>
            <a:off x="2057400" y="429768"/>
            <a:ext cx="128016" cy="128016"/>
          </a:xfrm>
          <a:prstGeom prst="rect">
            <a:avLst/>
          </a:prstGeom>
        </p:spPr>
      </p:pic>
      <p:sp>
        <p:nvSpPr>
          <p:cNvPr id="5" name="Text 2"/>
          <p:cNvSpPr txBox="1"/>
          <p:nvPr/>
        </p:nvSpPr>
        <p:spPr>
          <a:xfrm>
            <a:off x="548640" y="1097280"/>
            <a:ext cx="10972800" cy="822960"/>
          </a:xfrm>
          <a:prstGeom prst="rect">
            <a:avLst/>
          </a:prstGeom>
          <a:noFill/>
          <a:ln/>
        </p:spPr>
        <p:txBody>
          <a:bodyPr wrap="square" lIns="0" tIns="0" rIns="0" bIns="0" rtlCol="0" anchor="ctr"/>
          <a:lstStyle/>
          <a:p>
            <a:pPr indent="0" marL="0">
              <a:buNone/>
            </a:pPr>
            <a:r>
              <a:rPr lang="en-US" sz="3400" dirty="0">
                <a:solidFill>
                  <a:srgbClr val="2B2420"/>
                </a:solidFill>
                <a:latin typeface="Cambria" pitchFamily="34" charset="0"/>
                <a:ea typeface="Cambria" pitchFamily="34" charset="-122"/>
                <a:cs typeface="Cambria" pitchFamily="34" charset="-120"/>
              </a:rPr>
              <a:t>Paste a product page. See what is behind the claim.</a:t>
            </a:r>
            <a:endParaRPr lang="en-US" sz="3400" dirty="0"/>
          </a:p>
        </p:txBody>
      </p:sp>
      <p:sp>
        <p:nvSpPr>
          <p:cNvPr id="6" name="Shape 3"/>
          <p:cNvSpPr/>
          <p:nvPr/>
        </p:nvSpPr>
        <p:spPr>
          <a:xfrm>
            <a:off x="548640" y="2331720"/>
            <a:ext cx="3429000" cy="1920240"/>
          </a:xfrm>
          <a:prstGeom prst="roundRect">
            <a:avLst>
              <a:gd name="adj" fmla="val 6667"/>
            </a:avLst>
          </a:prstGeom>
          <a:solidFill>
            <a:srgbClr val="FFFFFF"/>
          </a:solidFill>
          <a:ln w="12700">
            <a:solidFill>
              <a:srgbClr val="ECE3D8"/>
            </a:solidFill>
            <a:prstDash val="solid"/>
          </a:ln>
          <a:effectLst>
            <a:outerShdw sx="100000" sy="100000" kx="0" ky="0" algn="bl" rotWithShape="0" blurRad="127000" dist="38100" dir="5400000">
              <a:srgbClr val="503720">
                <a:alpha val="8000"/>
              </a:srgbClr>
            </a:outerShdw>
          </a:effectLst>
        </p:spPr>
      </p:sp>
      <p:sp>
        <p:nvSpPr>
          <p:cNvPr id="7" name="Shape 4"/>
          <p:cNvSpPr/>
          <p:nvPr/>
        </p:nvSpPr>
        <p:spPr>
          <a:xfrm>
            <a:off x="822960" y="2560320"/>
            <a:ext cx="566928" cy="566928"/>
          </a:xfrm>
          <a:prstGeom prst="ellipse">
            <a:avLst/>
          </a:prstGeom>
          <a:solidFill>
            <a:srgbClr val="FBE7DA"/>
          </a:solidFill>
          <a:ln w="12700">
            <a:solidFill>
              <a:srgbClr val="FBE7DA"/>
            </a:solidFill>
            <a:prstDash val="solid"/>
          </a:ln>
        </p:spPr>
      </p:sp>
      <p:pic>
        <p:nvPicPr>
          <p:cNvPr id="8" name="Image 1" descr="preencoded.png">    </p:cNvPr>
          <p:cNvPicPr>
            <a:picLocks noChangeAspect="1"/>
          </p:cNvPicPr>
          <p:nvPr/>
        </p:nvPicPr>
        <p:blipFill>
          <a:blip r:embed="rId2"/>
          <a:stretch>
            <a:fillRect/>
          </a:stretch>
        </p:blipFill>
        <p:spPr>
          <a:xfrm>
            <a:off x="960120" y="2697480"/>
            <a:ext cx="292608" cy="292608"/>
          </a:xfrm>
          <a:prstGeom prst="rect">
            <a:avLst/>
          </a:prstGeom>
        </p:spPr>
      </p:pic>
      <p:sp>
        <p:nvSpPr>
          <p:cNvPr id="9" name="Text 5"/>
          <p:cNvSpPr txBox="1"/>
          <p:nvPr/>
        </p:nvSpPr>
        <p:spPr>
          <a:xfrm>
            <a:off x="822960" y="3246120"/>
            <a:ext cx="2926080" cy="384048"/>
          </a:xfrm>
          <a:prstGeom prst="rect">
            <a:avLst/>
          </a:prstGeom>
          <a:noFill/>
          <a:ln/>
        </p:spPr>
        <p:txBody>
          <a:bodyPr wrap="square" lIns="0" tIns="0" rIns="0" bIns="0" rtlCol="0" anchor="ctr"/>
          <a:lstStyle/>
          <a:p>
            <a:pPr indent="0" marL="0">
              <a:buNone/>
            </a:pPr>
            <a:r>
              <a:rPr lang="en-US" sz="1900" b="1" dirty="0">
                <a:solidFill>
                  <a:srgbClr val="2B2420"/>
                </a:solidFill>
                <a:latin typeface="Calibri" pitchFamily="34" charset="0"/>
                <a:ea typeface="Calibri" pitchFamily="34" charset="-122"/>
                <a:cs typeface="Calibri" pitchFamily="34" charset="-120"/>
              </a:rPr>
              <a:t>1. Read the claim</a:t>
            </a:r>
            <a:endParaRPr lang="en-US" sz="1900" dirty="0"/>
          </a:p>
        </p:txBody>
      </p:sp>
      <p:sp>
        <p:nvSpPr>
          <p:cNvPr id="10" name="Text 6"/>
          <p:cNvSpPr txBox="1"/>
          <p:nvPr/>
        </p:nvSpPr>
        <p:spPr>
          <a:xfrm>
            <a:off x="822960" y="3639312"/>
            <a:ext cx="2926080" cy="54864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The agent finds each claim on the page and quotes it exactly.</a:t>
            </a:r>
            <a:endParaRPr lang="en-US" sz="1400" dirty="0"/>
          </a:p>
        </p:txBody>
      </p:sp>
      <p:pic>
        <p:nvPicPr>
          <p:cNvPr id="11" name="Image 2" descr="preencoded.png">    </p:cNvPr>
          <p:cNvPicPr>
            <a:picLocks noChangeAspect="1"/>
          </p:cNvPicPr>
          <p:nvPr/>
        </p:nvPicPr>
        <p:blipFill>
          <a:blip r:embed="rId3"/>
          <a:stretch>
            <a:fillRect/>
          </a:stretch>
        </p:blipFill>
        <p:spPr>
          <a:xfrm>
            <a:off x="4050792" y="3154680"/>
            <a:ext cx="219456" cy="219456"/>
          </a:xfrm>
          <a:prstGeom prst="rect">
            <a:avLst/>
          </a:prstGeom>
        </p:spPr>
      </p:pic>
      <p:sp>
        <p:nvSpPr>
          <p:cNvPr id="12" name="Shape 7"/>
          <p:cNvSpPr/>
          <p:nvPr/>
        </p:nvSpPr>
        <p:spPr>
          <a:xfrm>
            <a:off x="4343400" y="2331720"/>
            <a:ext cx="3429000" cy="1920240"/>
          </a:xfrm>
          <a:prstGeom prst="roundRect">
            <a:avLst>
              <a:gd name="adj" fmla="val 6667"/>
            </a:avLst>
          </a:prstGeom>
          <a:solidFill>
            <a:srgbClr val="FFFFFF"/>
          </a:solidFill>
          <a:ln w="12700">
            <a:solidFill>
              <a:srgbClr val="ECE3D8"/>
            </a:solidFill>
            <a:prstDash val="solid"/>
          </a:ln>
          <a:effectLst>
            <a:outerShdw sx="100000" sy="100000" kx="0" ky="0" algn="bl" rotWithShape="0" blurRad="127000" dist="38100" dir="5400000">
              <a:srgbClr val="503720">
                <a:alpha val="8000"/>
              </a:srgbClr>
            </a:outerShdw>
          </a:effectLst>
        </p:spPr>
      </p:sp>
      <p:sp>
        <p:nvSpPr>
          <p:cNvPr id="13" name="Shape 8"/>
          <p:cNvSpPr/>
          <p:nvPr/>
        </p:nvSpPr>
        <p:spPr>
          <a:xfrm>
            <a:off x="4617720" y="2560320"/>
            <a:ext cx="566928" cy="566928"/>
          </a:xfrm>
          <a:prstGeom prst="ellipse">
            <a:avLst/>
          </a:prstGeom>
          <a:solidFill>
            <a:srgbClr val="FBE7DA"/>
          </a:solidFill>
          <a:ln w="12700">
            <a:solidFill>
              <a:srgbClr val="FBE7DA"/>
            </a:solidFill>
            <a:prstDash val="solid"/>
          </a:ln>
        </p:spPr>
      </p:sp>
      <p:pic>
        <p:nvPicPr>
          <p:cNvPr id="14" name="Image 3" descr="preencoded.png">    </p:cNvPr>
          <p:cNvPicPr>
            <a:picLocks noChangeAspect="1"/>
          </p:cNvPicPr>
          <p:nvPr/>
        </p:nvPicPr>
        <p:blipFill>
          <a:blip r:embed="rId4"/>
          <a:stretch>
            <a:fillRect/>
          </a:stretch>
        </p:blipFill>
        <p:spPr>
          <a:xfrm>
            <a:off x="4754880" y="2697480"/>
            <a:ext cx="292608" cy="292608"/>
          </a:xfrm>
          <a:prstGeom prst="rect">
            <a:avLst/>
          </a:prstGeom>
        </p:spPr>
      </p:pic>
      <p:sp>
        <p:nvSpPr>
          <p:cNvPr id="15" name="Text 9"/>
          <p:cNvSpPr txBox="1"/>
          <p:nvPr/>
        </p:nvSpPr>
        <p:spPr>
          <a:xfrm>
            <a:off x="4617720" y="3246120"/>
            <a:ext cx="2926080" cy="384048"/>
          </a:xfrm>
          <a:prstGeom prst="rect">
            <a:avLst/>
          </a:prstGeom>
          <a:noFill/>
          <a:ln/>
        </p:spPr>
        <p:txBody>
          <a:bodyPr wrap="square" lIns="0" tIns="0" rIns="0" bIns="0" rtlCol="0" anchor="ctr"/>
          <a:lstStyle/>
          <a:p>
            <a:pPr indent="0" marL="0">
              <a:buNone/>
            </a:pPr>
            <a:r>
              <a:rPr lang="en-US" sz="1900" b="1" dirty="0">
                <a:solidFill>
                  <a:srgbClr val="2B2420"/>
                </a:solidFill>
                <a:latin typeface="Calibri" pitchFamily="34" charset="0"/>
                <a:ea typeface="Calibri" pitchFamily="34" charset="-122"/>
                <a:cs typeface="Calibri" pitchFamily="34" charset="-120"/>
              </a:rPr>
              <a:t>2. Look for proof</a:t>
            </a:r>
            <a:endParaRPr lang="en-US" sz="1900" dirty="0"/>
          </a:p>
        </p:txBody>
      </p:sp>
      <p:sp>
        <p:nvSpPr>
          <p:cNvPr id="16" name="Text 10"/>
          <p:cNvSpPr txBox="1"/>
          <p:nvPr/>
        </p:nvSpPr>
        <p:spPr>
          <a:xfrm>
            <a:off x="4617720" y="3639312"/>
            <a:ext cx="2926080" cy="54864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It works out what proof the claim needs and where to find it.</a:t>
            </a:r>
            <a:endParaRPr lang="en-US" sz="1400" dirty="0"/>
          </a:p>
        </p:txBody>
      </p:sp>
      <p:pic>
        <p:nvPicPr>
          <p:cNvPr id="17" name="Image 4" descr="preencoded.png">    </p:cNvPr>
          <p:cNvPicPr>
            <a:picLocks noChangeAspect="1"/>
          </p:cNvPicPr>
          <p:nvPr/>
        </p:nvPicPr>
        <p:blipFill>
          <a:blip r:embed="rId5"/>
          <a:stretch>
            <a:fillRect/>
          </a:stretch>
        </p:blipFill>
        <p:spPr>
          <a:xfrm>
            <a:off x="7845552" y="3154680"/>
            <a:ext cx="219456" cy="219456"/>
          </a:xfrm>
          <a:prstGeom prst="rect">
            <a:avLst/>
          </a:prstGeom>
        </p:spPr>
      </p:pic>
      <p:sp>
        <p:nvSpPr>
          <p:cNvPr id="18" name="Shape 11"/>
          <p:cNvSpPr/>
          <p:nvPr/>
        </p:nvSpPr>
        <p:spPr>
          <a:xfrm>
            <a:off x="8138160" y="2331720"/>
            <a:ext cx="3429000" cy="1920240"/>
          </a:xfrm>
          <a:prstGeom prst="roundRect">
            <a:avLst>
              <a:gd name="adj" fmla="val 6667"/>
            </a:avLst>
          </a:prstGeom>
          <a:solidFill>
            <a:srgbClr val="FFFFFF"/>
          </a:solidFill>
          <a:ln w="12700">
            <a:solidFill>
              <a:srgbClr val="ECE3D8"/>
            </a:solidFill>
            <a:prstDash val="solid"/>
          </a:ln>
          <a:effectLst>
            <a:outerShdw sx="100000" sy="100000" kx="0" ky="0" algn="bl" rotWithShape="0" blurRad="127000" dist="38100" dir="5400000">
              <a:srgbClr val="503720">
                <a:alpha val="8000"/>
              </a:srgbClr>
            </a:outerShdw>
          </a:effectLst>
        </p:spPr>
      </p:sp>
      <p:sp>
        <p:nvSpPr>
          <p:cNvPr id="19" name="Shape 12"/>
          <p:cNvSpPr/>
          <p:nvPr/>
        </p:nvSpPr>
        <p:spPr>
          <a:xfrm>
            <a:off x="8412480" y="2560320"/>
            <a:ext cx="566928" cy="566928"/>
          </a:xfrm>
          <a:prstGeom prst="ellipse">
            <a:avLst/>
          </a:prstGeom>
          <a:solidFill>
            <a:srgbClr val="FBE7DA"/>
          </a:solidFill>
          <a:ln w="12700">
            <a:solidFill>
              <a:srgbClr val="FBE7DA"/>
            </a:solidFill>
            <a:prstDash val="solid"/>
          </a:ln>
        </p:spPr>
      </p:sp>
      <p:pic>
        <p:nvPicPr>
          <p:cNvPr id="20" name="Image 5" descr="preencoded.png">    </p:cNvPr>
          <p:cNvPicPr>
            <a:picLocks noChangeAspect="1"/>
          </p:cNvPicPr>
          <p:nvPr/>
        </p:nvPicPr>
        <p:blipFill>
          <a:blip r:embed="rId6"/>
          <a:stretch>
            <a:fillRect/>
          </a:stretch>
        </p:blipFill>
        <p:spPr>
          <a:xfrm>
            <a:off x="8549640" y="2697480"/>
            <a:ext cx="292608" cy="292608"/>
          </a:xfrm>
          <a:prstGeom prst="rect">
            <a:avLst/>
          </a:prstGeom>
        </p:spPr>
      </p:pic>
      <p:sp>
        <p:nvSpPr>
          <p:cNvPr id="21" name="Text 13"/>
          <p:cNvSpPr txBox="1"/>
          <p:nvPr/>
        </p:nvSpPr>
        <p:spPr>
          <a:xfrm>
            <a:off x="8412480" y="3246120"/>
            <a:ext cx="2926080" cy="384048"/>
          </a:xfrm>
          <a:prstGeom prst="rect">
            <a:avLst/>
          </a:prstGeom>
          <a:noFill/>
          <a:ln/>
        </p:spPr>
        <p:txBody>
          <a:bodyPr wrap="square" lIns="0" tIns="0" rIns="0" bIns="0" rtlCol="0" anchor="ctr"/>
          <a:lstStyle/>
          <a:p>
            <a:pPr indent="0" marL="0">
              <a:buNone/>
            </a:pPr>
            <a:r>
              <a:rPr lang="en-US" sz="1900" b="1" dirty="0">
                <a:solidFill>
                  <a:srgbClr val="2B2420"/>
                </a:solidFill>
                <a:latin typeface="Calibri" pitchFamily="34" charset="0"/>
                <a:ea typeface="Calibri" pitchFamily="34" charset="-122"/>
                <a:cs typeface="Calibri" pitchFamily="34" charset="-120"/>
              </a:rPr>
              <a:t>3. Decide</a:t>
            </a:r>
            <a:endParaRPr lang="en-US" sz="1900" dirty="0"/>
          </a:p>
        </p:txBody>
      </p:sp>
      <p:sp>
        <p:nvSpPr>
          <p:cNvPr id="22" name="Text 14"/>
          <p:cNvSpPr txBox="1"/>
          <p:nvPr/>
        </p:nvSpPr>
        <p:spPr>
          <a:xfrm>
            <a:off x="8412480" y="3639312"/>
            <a:ext cx="2926080" cy="54864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One clear verdict, with a next step the user can act on.</a:t>
            </a:r>
            <a:endParaRPr lang="en-US" sz="1400" dirty="0"/>
          </a:p>
        </p:txBody>
      </p:sp>
      <p:sp>
        <p:nvSpPr>
          <p:cNvPr id="23" name="Text 15"/>
          <p:cNvSpPr txBox="1"/>
          <p:nvPr/>
        </p:nvSpPr>
        <p:spPr>
          <a:xfrm>
            <a:off x="548640" y="4617720"/>
            <a:ext cx="3657600" cy="274320"/>
          </a:xfrm>
          <a:prstGeom prst="rect">
            <a:avLst/>
          </a:prstGeom>
          <a:noFill/>
          <a:ln/>
        </p:spPr>
        <p:txBody>
          <a:bodyPr wrap="square" lIns="0" tIns="0" rIns="0" bIns="0" rtlCol="0" anchor="ctr"/>
          <a:lstStyle/>
          <a:p>
            <a:pPr indent="0" marL="0">
              <a:buNone/>
            </a:pPr>
            <a:r>
              <a:rPr lang="en-US" sz="1100" b="1" spc="300" kern="0" dirty="0">
                <a:solidFill>
                  <a:srgbClr val="9A8D83"/>
                </a:solidFill>
                <a:latin typeface="Calibri" pitchFamily="34" charset="0"/>
                <a:ea typeface="Calibri" pitchFamily="34" charset="-122"/>
                <a:cs typeface="Calibri" pitchFamily="34" charset="-120"/>
              </a:rPr>
              <a:t>THREE VERDICTS</a:t>
            </a:r>
            <a:endParaRPr lang="en-US" sz="1100" dirty="0"/>
          </a:p>
        </p:txBody>
      </p:sp>
      <p:sp>
        <p:nvSpPr>
          <p:cNvPr id="24" name="Shape 16"/>
          <p:cNvSpPr/>
          <p:nvPr/>
        </p:nvSpPr>
        <p:spPr>
          <a:xfrm>
            <a:off x="548640" y="4983480"/>
            <a:ext cx="1920240" cy="420624"/>
          </a:xfrm>
          <a:prstGeom prst="roundRect">
            <a:avLst>
              <a:gd name="adj" fmla="val 50000"/>
            </a:avLst>
          </a:prstGeom>
          <a:solidFill>
            <a:srgbClr val="E7F3EC"/>
          </a:solidFill>
          <a:ln w="12700">
            <a:solidFill>
              <a:srgbClr val="E7F3EC"/>
            </a:solidFill>
            <a:prstDash val="solid"/>
          </a:ln>
        </p:spPr>
      </p:sp>
      <p:pic>
        <p:nvPicPr>
          <p:cNvPr id="25" name="Image 6" descr="preencoded.png">    </p:cNvPr>
          <p:cNvPicPr>
            <a:picLocks noChangeAspect="1"/>
          </p:cNvPicPr>
          <p:nvPr/>
        </p:nvPicPr>
        <p:blipFill>
          <a:blip r:embed="rId7"/>
          <a:stretch>
            <a:fillRect/>
          </a:stretch>
        </p:blipFill>
        <p:spPr>
          <a:xfrm>
            <a:off x="694944" y="5093208"/>
            <a:ext cx="201168" cy="201168"/>
          </a:xfrm>
          <a:prstGeom prst="rect">
            <a:avLst/>
          </a:prstGeom>
        </p:spPr>
      </p:pic>
      <p:sp>
        <p:nvSpPr>
          <p:cNvPr id="26" name="Text 17"/>
          <p:cNvSpPr txBox="1"/>
          <p:nvPr/>
        </p:nvSpPr>
        <p:spPr>
          <a:xfrm>
            <a:off x="969264" y="4983480"/>
            <a:ext cx="1444752" cy="420624"/>
          </a:xfrm>
          <a:prstGeom prst="rect">
            <a:avLst/>
          </a:prstGeom>
          <a:noFill/>
          <a:ln/>
        </p:spPr>
        <p:txBody>
          <a:bodyPr wrap="square" lIns="0" tIns="0" rIns="0" bIns="0" rtlCol="0" anchor="ctr"/>
          <a:lstStyle/>
          <a:p>
            <a:pPr indent="0" marL="0">
              <a:buNone/>
            </a:pPr>
            <a:r>
              <a:rPr lang="en-US" sz="1500" b="1" dirty="0">
                <a:solidFill>
                  <a:srgbClr val="1E6B4E"/>
                </a:solidFill>
                <a:latin typeface="Calibri" pitchFamily="34" charset="0"/>
                <a:ea typeface="Calibri" pitchFamily="34" charset="-122"/>
                <a:cs typeface="Calibri" pitchFamily="34" charset="-120"/>
              </a:rPr>
              <a:t>Backed</a:t>
            </a:r>
            <a:endParaRPr lang="en-US" sz="1500" dirty="0"/>
          </a:p>
        </p:txBody>
      </p:sp>
      <p:sp>
        <p:nvSpPr>
          <p:cNvPr id="27" name="Text 18"/>
          <p:cNvSpPr txBox="1"/>
          <p:nvPr/>
        </p:nvSpPr>
        <p:spPr>
          <a:xfrm>
            <a:off x="548640" y="5486400"/>
            <a:ext cx="3474720" cy="365760"/>
          </a:xfrm>
          <a:prstGeom prst="rect">
            <a:avLst/>
          </a:prstGeom>
          <a:noFill/>
          <a:ln/>
        </p:spPr>
        <p:txBody>
          <a:bodyPr wrap="square" lIns="0" tIns="0" rIns="0" bIns="0" rtlCol="0" anchor="ctr"/>
          <a:lstStyle/>
          <a:p>
            <a:pPr indent="0" marL="0">
              <a:buNone/>
            </a:pPr>
            <a:r>
              <a:rPr lang="en-US" sz="1300" dirty="0">
                <a:solidFill>
                  <a:srgbClr val="74685F"/>
                </a:solidFill>
                <a:latin typeface="Calibri" pitchFamily="34" charset="0"/>
                <a:ea typeface="Calibri" pitchFamily="34" charset="-122"/>
                <a:cs typeface="Calibri" pitchFamily="34" charset="-120"/>
              </a:rPr>
              <a:t>An independent source confirms it.</a:t>
            </a:r>
            <a:endParaRPr lang="en-US" sz="1300" dirty="0"/>
          </a:p>
        </p:txBody>
      </p:sp>
      <p:sp>
        <p:nvSpPr>
          <p:cNvPr id="28" name="Shape 19"/>
          <p:cNvSpPr/>
          <p:nvPr/>
        </p:nvSpPr>
        <p:spPr>
          <a:xfrm>
            <a:off x="4343400" y="4983480"/>
            <a:ext cx="1737360" cy="420624"/>
          </a:xfrm>
          <a:prstGeom prst="roundRect">
            <a:avLst>
              <a:gd name="adj" fmla="val 50000"/>
            </a:avLst>
          </a:prstGeom>
          <a:solidFill>
            <a:srgbClr val="FFF1C6"/>
          </a:solidFill>
          <a:ln w="12700">
            <a:solidFill>
              <a:srgbClr val="FFF1C6"/>
            </a:solidFill>
            <a:prstDash val="solid"/>
          </a:ln>
        </p:spPr>
      </p:sp>
      <p:pic>
        <p:nvPicPr>
          <p:cNvPr id="29" name="Image 7" descr="preencoded.png">    </p:cNvPr>
          <p:cNvPicPr>
            <a:picLocks noChangeAspect="1"/>
          </p:cNvPicPr>
          <p:nvPr/>
        </p:nvPicPr>
        <p:blipFill>
          <a:blip r:embed="rId8"/>
          <a:stretch>
            <a:fillRect/>
          </a:stretch>
        </p:blipFill>
        <p:spPr>
          <a:xfrm>
            <a:off x="4489704" y="5093208"/>
            <a:ext cx="201168" cy="201168"/>
          </a:xfrm>
          <a:prstGeom prst="rect">
            <a:avLst/>
          </a:prstGeom>
        </p:spPr>
      </p:pic>
      <p:sp>
        <p:nvSpPr>
          <p:cNvPr id="30" name="Text 20"/>
          <p:cNvSpPr txBox="1"/>
          <p:nvPr/>
        </p:nvSpPr>
        <p:spPr>
          <a:xfrm>
            <a:off x="4764024" y="4983480"/>
            <a:ext cx="1261872" cy="420624"/>
          </a:xfrm>
          <a:prstGeom prst="rect">
            <a:avLst/>
          </a:prstGeom>
          <a:noFill/>
          <a:ln/>
        </p:spPr>
        <p:txBody>
          <a:bodyPr wrap="square" lIns="0" tIns="0" rIns="0" bIns="0" rtlCol="0" anchor="ctr"/>
          <a:lstStyle/>
          <a:p>
            <a:pPr indent="0" marL="0">
              <a:buNone/>
            </a:pPr>
            <a:r>
              <a:rPr lang="en-US" sz="1500" b="1" dirty="0">
                <a:solidFill>
                  <a:srgbClr val="7A5600"/>
                </a:solidFill>
                <a:latin typeface="Calibri" pitchFamily="34" charset="0"/>
                <a:ea typeface="Calibri" pitchFamily="34" charset="-122"/>
                <a:cs typeface="Calibri" pitchFamily="34" charset="-120"/>
              </a:rPr>
              <a:t>Vague</a:t>
            </a:r>
            <a:endParaRPr lang="en-US" sz="1500" dirty="0"/>
          </a:p>
        </p:txBody>
      </p:sp>
      <p:sp>
        <p:nvSpPr>
          <p:cNvPr id="31" name="Text 21"/>
          <p:cNvSpPr txBox="1"/>
          <p:nvPr/>
        </p:nvSpPr>
        <p:spPr>
          <a:xfrm>
            <a:off x="4343400" y="5486400"/>
            <a:ext cx="3474720" cy="365760"/>
          </a:xfrm>
          <a:prstGeom prst="rect">
            <a:avLst/>
          </a:prstGeom>
          <a:noFill/>
          <a:ln/>
        </p:spPr>
        <p:txBody>
          <a:bodyPr wrap="square" lIns="0" tIns="0" rIns="0" bIns="0" rtlCol="0" anchor="ctr"/>
          <a:lstStyle/>
          <a:p>
            <a:pPr indent="0" marL="0">
              <a:buNone/>
            </a:pPr>
            <a:r>
              <a:rPr lang="en-US" sz="1300" dirty="0">
                <a:solidFill>
                  <a:srgbClr val="74685F"/>
                </a:solidFill>
                <a:latin typeface="Calibri" pitchFamily="34" charset="0"/>
                <a:ea typeface="Calibri" pitchFamily="34" charset="-122"/>
                <a:cs typeface="Calibri" pitchFamily="34" charset="-120"/>
              </a:rPr>
              <a:t>The words are wider than the proof.</a:t>
            </a:r>
            <a:endParaRPr lang="en-US" sz="1300" dirty="0"/>
          </a:p>
        </p:txBody>
      </p:sp>
      <p:sp>
        <p:nvSpPr>
          <p:cNvPr id="32" name="Shape 22"/>
          <p:cNvSpPr/>
          <p:nvPr/>
        </p:nvSpPr>
        <p:spPr>
          <a:xfrm>
            <a:off x="8138160" y="4983480"/>
            <a:ext cx="2926080" cy="420624"/>
          </a:xfrm>
          <a:prstGeom prst="roundRect">
            <a:avLst>
              <a:gd name="adj" fmla="val 50000"/>
            </a:avLst>
          </a:prstGeom>
          <a:solidFill>
            <a:srgbClr val="FDEBE1"/>
          </a:solidFill>
          <a:ln w="12700">
            <a:solidFill>
              <a:srgbClr val="FDEBE1"/>
            </a:solidFill>
            <a:prstDash val="solid"/>
          </a:ln>
        </p:spPr>
      </p:sp>
      <p:pic>
        <p:nvPicPr>
          <p:cNvPr id="33" name="Image 8" descr="preencoded.png">    </p:cNvPr>
          <p:cNvPicPr>
            <a:picLocks noChangeAspect="1"/>
          </p:cNvPicPr>
          <p:nvPr/>
        </p:nvPicPr>
        <p:blipFill>
          <a:blip r:embed="rId9"/>
          <a:stretch>
            <a:fillRect/>
          </a:stretch>
        </p:blipFill>
        <p:spPr>
          <a:xfrm>
            <a:off x="8284464" y="5093208"/>
            <a:ext cx="201168" cy="201168"/>
          </a:xfrm>
          <a:prstGeom prst="rect">
            <a:avLst/>
          </a:prstGeom>
        </p:spPr>
      </p:pic>
      <p:sp>
        <p:nvSpPr>
          <p:cNvPr id="34" name="Text 23"/>
          <p:cNvSpPr txBox="1"/>
          <p:nvPr/>
        </p:nvSpPr>
        <p:spPr>
          <a:xfrm>
            <a:off x="8558784" y="4983480"/>
            <a:ext cx="2450592" cy="420624"/>
          </a:xfrm>
          <a:prstGeom prst="rect">
            <a:avLst/>
          </a:prstGeom>
          <a:noFill/>
          <a:ln/>
        </p:spPr>
        <p:txBody>
          <a:bodyPr wrap="square" lIns="0" tIns="0" rIns="0" bIns="0" rtlCol="0" anchor="ctr"/>
          <a:lstStyle/>
          <a:p>
            <a:pPr indent="0" marL="0">
              <a:buNone/>
            </a:pPr>
            <a:r>
              <a:rPr lang="en-US" sz="1500" b="1" dirty="0">
                <a:solidFill>
                  <a:srgbClr val="B4471A"/>
                </a:solidFill>
                <a:latin typeface="Calibri" pitchFamily="34" charset="0"/>
                <a:ea typeface="Calibri" pitchFamily="34" charset="-122"/>
                <a:cs typeface="Calibri" pitchFamily="34" charset="-120"/>
              </a:rPr>
              <a:t>Evidence not public</a:t>
            </a:r>
            <a:endParaRPr lang="en-US" sz="1500" dirty="0"/>
          </a:p>
        </p:txBody>
      </p:sp>
      <p:sp>
        <p:nvSpPr>
          <p:cNvPr id="35" name="Text 24"/>
          <p:cNvSpPr txBox="1"/>
          <p:nvPr/>
        </p:nvSpPr>
        <p:spPr>
          <a:xfrm>
            <a:off x="8138160" y="5486400"/>
            <a:ext cx="3566160" cy="365760"/>
          </a:xfrm>
          <a:prstGeom prst="rect">
            <a:avLst/>
          </a:prstGeom>
          <a:noFill/>
          <a:ln/>
        </p:spPr>
        <p:txBody>
          <a:bodyPr wrap="square" lIns="0" tIns="0" rIns="0" bIns="0" rtlCol="0" anchor="ctr"/>
          <a:lstStyle/>
          <a:p>
            <a:pPr indent="0" marL="0">
              <a:buNone/>
            </a:pPr>
            <a:r>
              <a:rPr lang="en-US" sz="1300" dirty="0">
                <a:solidFill>
                  <a:srgbClr val="74685F"/>
                </a:solidFill>
                <a:latin typeface="Calibri" pitchFamily="34" charset="0"/>
                <a:ea typeface="Calibri" pitchFamily="34" charset="-122"/>
                <a:cs typeface="Calibri" pitchFamily="34" charset="-120"/>
              </a:rPr>
              <a:t>Precise claim; the proof sits with the brand.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8F2"/>
        </a:solidFill>
      </p:bgPr>
    </p:bg>
    <p:spTree>
      <p:nvGrpSpPr>
        <p:cNvPr id="1" name=""/>
        <p:cNvGrpSpPr/>
        <p:nvPr/>
      </p:nvGrpSpPr>
      <p:grpSpPr>
        <a:xfrm>
          <a:off x="0" y="0"/>
          <a:ext cx="0" cy="0"/>
          <a:chOff x="0" y="0"/>
          <a:chExt cx="0" cy="0"/>
        </a:xfrm>
      </p:grpSpPr>
      <p:sp>
        <p:nvSpPr>
          <p:cNvPr id="2" name="Text 0"/>
          <p:cNvSpPr txBox="1"/>
          <p:nvPr/>
        </p:nvSpPr>
        <p:spPr>
          <a:xfrm>
            <a:off x="548640" y="411480"/>
            <a:ext cx="2743200" cy="457200"/>
          </a:xfrm>
          <a:prstGeom prst="rect">
            <a:avLst/>
          </a:prstGeom>
          <a:noFill/>
          <a:ln/>
        </p:spPr>
        <p:txBody>
          <a:bodyPr wrap="square" lIns="0" tIns="0" rIns="0" bIns="0" rtlCol="0" anchor="ctr"/>
          <a:lstStyle/>
          <a:p>
            <a:pPr indent="0" marL="0">
              <a:buNone/>
            </a:pPr>
            <a:r>
              <a:rPr lang="en-US" sz="2400" dirty="0">
                <a:solidFill>
                  <a:srgbClr val="2B2420"/>
                </a:solidFill>
                <a:latin typeface="Cambria" pitchFamily="34" charset="0"/>
                <a:ea typeface="Cambria" pitchFamily="34" charset="-122"/>
                <a:cs typeface="Cambria" pitchFamily="34" charset="-120"/>
              </a:rPr>
              <a:t>Proof</a:t>
            </a:r>
            <a:pPr indent="0" marL="0">
              <a:buNone/>
            </a:pPr>
            <a:r>
              <a:rPr lang="en-US" sz="2400" u="sng" dirty="0">
                <a:solidFill>
                  <a:srgbClr val="2B2420"/>
                </a:solidFill>
                <a:uFill>
                  <a:solidFill>
                    <a:srgbClr val="F2B33D"/>
                  </a:solidFill>
                </a:uFill>
                <a:latin typeface="Cambria" pitchFamily="34" charset="0"/>
                <a:ea typeface="Cambria" pitchFamily="34" charset="-122"/>
                <a:cs typeface="Cambria" pitchFamily="34" charset="-120"/>
              </a:rPr>
              <a:t>Trace</a:t>
            </a:r>
            <a:endParaRPr lang="en-US" sz="2400" dirty="0"/>
          </a:p>
        </p:txBody>
      </p:sp>
      <p:sp>
        <p:nvSpPr>
          <p:cNvPr id="3" name="Shape 1"/>
          <p:cNvSpPr/>
          <p:nvPr/>
        </p:nvSpPr>
        <p:spPr>
          <a:xfrm>
            <a:off x="2011680" y="384048"/>
            <a:ext cx="219456" cy="219456"/>
          </a:xfrm>
          <a:prstGeom prst="ellipse">
            <a:avLst/>
          </a:prstGeom>
          <a:solidFill>
            <a:srgbClr val="C4501A"/>
          </a:solidFill>
          <a:ln w="12700">
            <a:solidFill>
              <a:srgbClr val="C4501A"/>
            </a:solidFill>
            <a:prstDash val="solid"/>
          </a:ln>
        </p:spPr>
      </p:sp>
      <p:pic>
        <p:nvPicPr>
          <p:cNvPr id="4" name="Image 0" descr="preencoded.png">    </p:cNvPr>
          <p:cNvPicPr>
            <a:picLocks noChangeAspect="1"/>
          </p:cNvPicPr>
          <p:nvPr/>
        </p:nvPicPr>
        <p:blipFill>
          <a:blip r:embed="rId1"/>
          <a:stretch>
            <a:fillRect/>
          </a:stretch>
        </p:blipFill>
        <p:spPr>
          <a:xfrm>
            <a:off x="2057400" y="429768"/>
            <a:ext cx="128016" cy="128016"/>
          </a:xfrm>
          <a:prstGeom prst="rect">
            <a:avLst/>
          </a:prstGeom>
        </p:spPr>
      </p:pic>
      <p:sp>
        <p:nvSpPr>
          <p:cNvPr id="5" name="Text 2"/>
          <p:cNvSpPr txBox="1"/>
          <p:nvPr/>
        </p:nvSpPr>
        <p:spPr>
          <a:xfrm>
            <a:off x="548640" y="1097280"/>
            <a:ext cx="10972800" cy="731520"/>
          </a:xfrm>
          <a:prstGeom prst="rect">
            <a:avLst/>
          </a:prstGeom>
          <a:noFill/>
          <a:ln/>
        </p:spPr>
        <p:txBody>
          <a:bodyPr wrap="square" lIns="0" tIns="0" rIns="0" bIns="0" rtlCol="0" anchor="ctr"/>
          <a:lstStyle/>
          <a:p>
            <a:pPr indent="0" marL="0">
              <a:buNone/>
            </a:pPr>
            <a:r>
              <a:rPr lang="en-US" sz="3400" dirty="0">
                <a:solidFill>
                  <a:srgbClr val="2B2420"/>
                </a:solidFill>
                <a:latin typeface="Cambria" pitchFamily="34" charset="0"/>
                <a:ea typeface="Cambria" pitchFamily="34" charset="-122"/>
                <a:cs typeface="Cambria" pitchFamily="34" charset="-120"/>
              </a:rPr>
              <a:t>Three claims. Three agent behaviours.</a:t>
            </a:r>
            <a:endParaRPr lang="en-US" sz="3400" dirty="0"/>
          </a:p>
        </p:txBody>
      </p:sp>
      <p:sp>
        <p:nvSpPr>
          <p:cNvPr id="6" name="Shape 3"/>
          <p:cNvSpPr/>
          <p:nvPr/>
        </p:nvSpPr>
        <p:spPr>
          <a:xfrm>
            <a:off x="548640" y="2103120"/>
            <a:ext cx="3429000" cy="3886200"/>
          </a:xfrm>
          <a:prstGeom prst="roundRect">
            <a:avLst>
              <a:gd name="adj" fmla="val 3733"/>
            </a:avLst>
          </a:prstGeom>
          <a:solidFill>
            <a:srgbClr val="FFFFFF"/>
          </a:solidFill>
          <a:ln w="12700">
            <a:solidFill>
              <a:srgbClr val="ECE3D8"/>
            </a:solidFill>
            <a:prstDash val="solid"/>
          </a:ln>
          <a:effectLst>
            <a:outerShdw sx="100000" sy="100000" kx="0" ky="0" algn="bl" rotWithShape="0" blurRad="127000" dist="38100" dir="5400000">
              <a:srgbClr val="503720">
                <a:alpha val="8000"/>
              </a:srgbClr>
            </a:outerShdw>
          </a:effectLst>
        </p:spPr>
      </p:sp>
      <p:sp>
        <p:nvSpPr>
          <p:cNvPr id="7" name="Text 4"/>
          <p:cNvSpPr txBox="1"/>
          <p:nvPr/>
        </p:nvSpPr>
        <p:spPr>
          <a:xfrm>
            <a:off x="822960" y="2359152"/>
            <a:ext cx="2926080" cy="274320"/>
          </a:xfrm>
          <a:prstGeom prst="rect">
            <a:avLst/>
          </a:prstGeom>
          <a:noFill/>
          <a:ln/>
        </p:spPr>
        <p:txBody>
          <a:bodyPr wrap="square" lIns="0" tIns="0" rIns="0" bIns="0" rtlCol="0" anchor="ctr"/>
          <a:lstStyle/>
          <a:p>
            <a:pPr indent="0" marL="0">
              <a:buNone/>
            </a:pPr>
            <a:r>
              <a:rPr lang="en-US" sz="1100" b="1" spc="200" kern="0" dirty="0">
                <a:solidFill>
                  <a:srgbClr val="9A8D83"/>
                </a:solidFill>
                <a:latin typeface="Calibri" pitchFamily="34" charset="0"/>
                <a:ea typeface="Calibri" pitchFamily="34" charset="-122"/>
                <a:cs typeface="Calibri" pitchFamily="34" charset="-120"/>
              </a:rPr>
              <a:t>CRUELTY-FREE CLAIM</a:t>
            </a:r>
            <a:endParaRPr lang="en-US" sz="1100" dirty="0"/>
          </a:p>
        </p:txBody>
      </p:sp>
      <p:sp>
        <p:nvSpPr>
          <p:cNvPr id="8" name="Text 5"/>
          <p:cNvSpPr txBox="1"/>
          <p:nvPr/>
        </p:nvSpPr>
        <p:spPr>
          <a:xfrm>
            <a:off x="822960" y="2670048"/>
            <a:ext cx="2926080" cy="868680"/>
          </a:xfrm>
          <a:prstGeom prst="rect">
            <a:avLst/>
          </a:prstGeom>
          <a:noFill/>
          <a:ln/>
        </p:spPr>
        <p:txBody>
          <a:bodyPr wrap="square" lIns="0" tIns="0" rIns="0" bIns="0" rtlCol="0" anchor="ctr"/>
          <a:lstStyle/>
          <a:p>
            <a:pPr indent="0" marL="0">
              <a:buNone/>
            </a:pPr>
            <a:r>
              <a:rPr lang="en-US" sz="1800" i="1" dirty="0">
                <a:solidFill>
                  <a:srgbClr val="2B2420"/>
                </a:solidFill>
                <a:latin typeface="Cambria" pitchFamily="34" charset="0"/>
                <a:ea typeface="Cambria" pitchFamily="34" charset="-122"/>
                <a:cs typeface="Cambria" pitchFamily="34" charset="-120"/>
              </a:rPr>
              <a:t>“Approved under the Leaping Bunny Programme.”</a:t>
            </a:r>
            <a:endParaRPr lang="en-US" sz="1800" dirty="0"/>
          </a:p>
        </p:txBody>
      </p:sp>
      <p:sp>
        <p:nvSpPr>
          <p:cNvPr id="9" name="Text 6"/>
          <p:cNvSpPr txBox="1"/>
          <p:nvPr/>
        </p:nvSpPr>
        <p:spPr>
          <a:xfrm>
            <a:off x="822960" y="3657600"/>
            <a:ext cx="2926080" cy="256032"/>
          </a:xfrm>
          <a:prstGeom prst="rect">
            <a:avLst/>
          </a:prstGeom>
          <a:noFill/>
          <a:ln/>
        </p:spPr>
        <p:txBody>
          <a:bodyPr wrap="square" lIns="0" tIns="0" rIns="0" bIns="0" rtlCol="0" anchor="ctr"/>
          <a:lstStyle/>
          <a:p>
            <a:pPr indent="0" marL="0">
              <a:buNone/>
            </a:pPr>
            <a:r>
              <a:rPr lang="en-US" sz="1000" b="1" spc="200" kern="0" dirty="0">
                <a:solidFill>
                  <a:srgbClr val="9A8D83"/>
                </a:solidFill>
                <a:latin typeface="Calibri" pitchFamily="34" charset="0"/>
                <a:ea typeface="Calibri" pitchFamily="34" charset="-122"/>
                <a:cs typeface="Calibri" pitchFamily="34" charset="-120"/>
              </a:rPr>
              <a:t>WHAT THE AGENT DOES</a:t>
            </a:r>
            <a:endParaRPr lang="en-US" sz="1000" dirty="0"/>
          </a:p>
        </p:txBody>
      </p:sp>
      <p:sp>
        <p:nvSpPr>
          <p:cNvPr id="10" name="Text 7"/>
          <p:cNvSpPr txBox="1"/>
          <p:nvPr/>
        </p:nvSpPr>
        <p:spPr>
          <a:xfrm>
            <a:off x="822960" y="3913632"/>
            <a:ext cx="2926080" cy="73152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Finds the independent certifier and confirms the listing.</a:t>
            </a:r>
            <a:endParaRPr lang="en-US" sz="1400" dirty="0"/>
          </a:p>
        </p:txBody>
      </p:sp>
      <p:sp>
        <p:nvSpPr>
          <p:cNvPr id="11" name="Shape 8"/>
          <p:cNvSpPr/>
          <p:nvPr/>
        </p:nvSpPr>
        <p:spPr>
          <a:xfrm>
            <a:off x="822960" y="4773168"/>
            <a:ext cx="1600200" cy="420624"/>
          </a:xfrm>
          <a:prstGeom prst="roundRect">
            <a:avLst>
              <a:gd name="adj" fmla="val 50000"/>
            </a:avLst>
          </a:prstGeom>
          <a:solidFill>
            <a:srgbClr val="E7F3EC"/>
          </a:solidFill>
          <a:ln w="12700">
            <a:solidFill>
              <a:srgbClr val="E7F3EC"/>
            </a:solidFill>
            <a:prstDash val="solid"/>
          </a:ln>
        </p:spPr>
      </p:sp>
      <p:pic>
        <p:nvPicPr>
          <p:cNvPr id="12" name="Image 1" descr="preencoded.png">    </p:cNvPr>
          <p:cNvPicPr>
            <a:picLocks noChangeAspect="1"/>
          </p:cNvPicPr>
          <p:nvPr/>
        </p:nvPicPr>
        <p:blipFill>
          <a:blip r:embed="rId2"/>
          <a:stretch>
            <a:fillRect/>
          </a:stretch>
        </p:blipFill>
        <p:spPr>
          <a:xfrm>
            <a:off x="969264" y="4882896"/>
            <a:ext cx="201168" cy="201168"/>
          </a:xfrm>
          <a:prstGeom prst="rect">
            <a:avLst/>
          </a:prstGeom>
        </p:spPr>
      </p:pic>
      <p:sp>
        <p:nvSpPr>
          <p:cNvPr id="13" name="Text 9"/>
          <p:cNvSpPr txBox="1"/>
          <p:nvPr/>
        </p:nvSpPr>
        <p:spPr>
          <a:xfrm>
            <a:off x="1243584" y="4773168"/>
            <a:ext cx="1124712" cy="420624"/>
          </a:xfrm>
          <a:prstGeom prst="rect">
            <a:avLst/>
          </a:prstGeom>
          <a:noFill/>
          <a:ln/>
        </p:spPr>
        <p:txBody>
          <a:bodyPr wrap="square" lIns="0" tIns="0" rIns="0" bIns="0" rtlCol="0" anchor="ctr"/>
          <a:lstStyle/>
          <a:p>
            <a:pPr indent="0" marL="0">
              <a:buNone/>
            </a:pPr>
            <a:r>
              <a:rPr lang="en-US" sz="1500" b="1" dirty="0">
                <a:solidFill>
                  <a:srgbClr val="1E6B4E"/>
                </a:solidFill>
                <a:latin typeface="Calibri" pitchFamily="34" charset="0"/>
                <a:ea typeface="Calibri" pitchFamily="34" charset="-122"/>
                <a:cs typeface="Calibri" pitchFamily="34" charset="-120"/>
              </a:rPr>
              <a:t>Backed</a:t>
            </a:r>
            <a:endParaRPr lang="en-US" sz="1500" dirty="0"/>
          </a:p>
        </p:txBody>
      </p:sp>
      <p:sp>
        <p:nvSpPr>
          <p:cNvPr id="14" name="Text 10"/>
          <p:cNvSpPr txBox="1"/>
          <p:nvPr/>
        </p:nvSpPr>
        <p:spPr>
          <a:xfrm>
            <a:off x="822960" y="5303520"/>
            <a:ext cx="2926080" cy="502920"/>
          </a:xfrm>
          <a:prstGeom prst="rect">
            <a:avLst/>
          </a:prstGeom>
          <a:noFill/>
          <a:ln/>
        </p:spPr>
        <p:txBody>
          <a:bodyPr wrap="square" lIns="0" tIns="0" rIns="0" bIns="0" rtlCol="0" anchor="ctr"/>
          <a:lstStyle/>
          <a:p>
            <a:pPr indent="0" marL="0">
              <a:buNone/>
            </a:pPr>
            <a:r>
              <a:rPr lang="en-US" sz="1400" b="1" dirty="0">
                <a:solidFill>
                  <a:srgbClr val="2B2420"/>
                </a:solidFill>
                <a:latin typeface="Calibri" pitchFamily="34" charset="0"/>
                <a:ea typeface="Calibri" pitchFamily="34" charset="-122"/>
                <a:cs typeface="Calibri" pitchFamily="34" charset="-120"/>
              </a:rPr>
              <a:t>Safe to repeat, with the certifier’s link.</a:t>
            </a:r>
            <a:endParaRPr lang="en-US" sz="1400" dirty="0"/>
          </a:p>
        </p:txBody>
      </p:sp>
      <p:sp>
        <p:nvSpPr>
          <p:cNvPr id="15" name="Shape 11"/>
          <p:cNvSpPr/>
          <p:nvPr/>
        </p:nvSpPr>
        <p:spPr>
          <a:xfrm>
            <a:off x="4343400" y="2103120"/>
            <a:ext cx="3429000" cy="3886200"/>
          </a:xfrm>
          <a:prstGeom prst="roundRect">
            <a:avLst>
              <a:gd name="adj" fmla="val 3733"/>
            </a:avLst>
          </a:prstGeom>
          <a:solidFill>
            <a:srgbClr val="FFFFFF"/>
          </a:solidFill>
          <a:ln w="12700">
            <a:solidFill>
              <a:srgbClr val="ECE3D8"/>
            </a:solidFill>
            <a:prstDash val="solid"/>
          </a:ln>
          <a:effectLst>
            <a:outerShdw sx="100000" sy="100000" kx="0" ky="0" algn="bl" rotWithShape="0" blurRad="127000" dist="38100" dir="5400000">
              <a:srgbClr val="503720">
                <a:alpha val="8000"/>
              </a:srgbClr>
            </a:outerShdw>
          </a:effectLst>
        </p:spPr>
      </p:sp>
      <p:sp>
        <p:nvSpPr>
          <p:cNvPr id="16" name="Text 12"/>
          <p:cNvSpPr txBox="1"/>
          <p:nvPr/>
        </p:nvSpPr>
        <p:spPr>
          <a:xfrm>
            <a:off x="4617720" y="2359152"/>
            <a:ext cx="2926080" cy="274320"/>
          </a:xfrm>
          <a:prstGeom prst="rect">
            <a:avLst/>
          </a:prstGeom>
          <a:noFill/>
          <a:ln/>
        </p:spPr>
        <p:txBody>
          <a:bodyPr wrap="square" lIns="0" tIns="0" rIns="0" bIns="0" rtlCol="0" anchor="ctr"/>
          <a:lstStyle/>
          <a:p>
            <a:pPr indent="0" marL="0">
              <a:buNone/>
            </a:pPr>
            <a:r>
              <a:rPr lang="en-US" sz="1100" b="1" spc="200" kern="0" dirty="0">
                <a:solidFill>
                  <a:srgbClr val="9A8D83"/>
                </a:solidFill>
                <a:latin typeface="Calibri" pitchFamily="34" charset="0"/>
                <a:ea typeface="Calibri" pitchFamily="34" charset="-122"/>
                <a:cs typeface="Calibri" pitchFamily="34" charset="-120"/>
              </a:rPr>
              <a:t>SOURCING CLAIM</a:t>
            </a:r>
            <a:endParaRPr lang="en-US" sz="1100" dirty="0"/>
          </a:p>
        </p:txBody>
      </p:sp>
      <p:sp>
        <p:nvSpPr>
          <p:cNvPr id="17" name="Text 13"/>
          <p:cNvSpPr txBox="1"/>
          <p:nvPr/>
        </p:nvSpPr>
        <p:spPr>
          <a:xfrm>
            <a:off x="4617720" y="2670048"/>
            <a:ext cx="2926080" cy="868680"/>
          </a:xfrm>
          <a:prstGeom prst="rect">
            <a:avLst/>
          </a:prstGeom>
          <a:noFill/>
          <a:ln/>
        </p:spPr>
        <p:txBody>
          <a:bodyPr wrap="square" lIns="0" tIns="0" rIns="0" bIns="0" rtlCol="0" anchor="ctr"/>
          <a:lstStyle/>
          <a:p>
            <a:pPr indent="0" marL="0">
              <a:buNone/>
            </a:pPr>
            <a:r>
              <a:rPr lang="en-US" sz="1800" i="1" dirty="0">
                <a:solidFill>
                  <a:srgbClr val="2B2420"/>
                </a:solidFill>
                <a:latin typeface="Cambria" pitchFamily="34" charset="0"/>
                <a:ea typeface="Cambria" pitchFamily="34" charset="-122"/>
                <a:cs typeface="Cambria" pitchFamily="34" charset="-120"/>
              </a:rPr>
              <a:t>“Our ingredients are ethically sourced.”</a:t>
            </a:r>
            <a:endParaRPr lang="en-US" sz="1800" dirty="0"/>
          </a:p>
        </p:txBody>
      </p:sp>
      <p:sp>
        <p:nvSpPr>
          <p:cNvPr id="18" name="Text 14"/>
          <p:cNvSpPr txBox="1"/>
          <p:nvPr/>
        </p:nvSpPr>
        <p:spPr>
          <a:xfrm>
            <a:off x="4617720" y="3657600"/>
            <a:ext cx="2926080" cy="256032"/>
          </a:xfrm>
          <a:prstGeom prst="rect">
            <a:avLst/>
          </a:prstGeom>
          <a:noFill/>
          <a:ln/>
        </p:spPr>
        <p:txBody>
          <a:bodyPr wrap="square" lIns="0" tIns="0" rIns="0" bIns="0" rtlCol="0" anchor="ctr"/>
          <a:lstStyle/>
          <a:p>
            <a:pPr indent="0" marL="0">
              <a:buNone/>
            </a:pPr>
            <a:r>
              <a:rPr lang="en-US" sz="1000" b="1" spc="200" kern="0" dirty="0">
                <a:solidFill>
                  <a:srgbClr val="9A8D83"/>
                </a:solidFill>
                <a:latin typeface="Calibri" pitchFamily="34" charset="0"/>
                <a:ea typeface="Calibri" pitchFamily="34" charset="-122"/>
                <a:cs typeface="Calibri" pitchFamily="34" charset="-120"/>
              </a:rPr>
              <a:t>WHAT THE AGENT DOES</a:t>
            </a:r>
            <a:endParaRPr lang="en-US" sz="1000" dirty="0"/>
          </a:p>
        </p:txBody>
      </p:sp>
      <p:sp>
        <p:nvSpPr>
          <p:cNvPr id="19" name="Text 15"/>
          <p:cNvSpPr txBox="1"/>
          <p:nvPr/>
        </p:nvSpPr>
        <p:spPr>
          <a:xfrm>
            <a:off x="4617720" y="3913632"/>
            <a:ext cx="2926080" cy="73152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Finds some evidence, then sees the words are wider than the proof.</a:t>
            </a:r>
            <a:endParaRPr lang="en-US" sz="1400" dirty="0"/>
          </a:p>
        </p:txBody>
      </p:sp>
      <p:sp>
        <p:nvSpPr>
          <p:cNvPr id="20" name="Shape 16"/>
          <p:cNvSpPr/>
          <p:nvPr/>
        </p:nvSpPr>
        <p:spPr>
          <a:xfrm>
            <a:off x="4617720" y="4773168"/>
            <a:ext cx="1463040" cy="420624"/>
          </a:xfrm>
          <a:prstGeom prst="roundRect">
            <a:avLst>
              <a:gd name="adj" fmla="val 50000"/>
            </a:avLst>
          </a:prstGeom>
          <a:solidFill>
            <a:srgbClr val="FFF1C6"/>
          </a:solidFill>
          <a:ln w="12700">
            <a:solidFill>
              <a:srgbClr val="FFF1C6"/>
            </a:solidFill>
            <a:prstDash val="solid"/>
          </a:ln>
        </p:spPr>
      </p:sp>
      <p:pic>
        <p:nvPicPr>
          <p:cNvPr id="21" name="Image 2" descr="preencoded.png">    </p:cNvPr>
          <p:cNvPicPr>
            <a:picLocks noChangeAspect="1"/>
          </p:cNvPicPr>
          <p:nvPr/>
        </p:nvPicPr>
        <p:blipFill>
          <a:blip r:embed="rId3"/>
          <a:stretch>
            <a:fillRect/>
          </a:stretch>
        </p:blipFill>
        <p:spPr>
          <a:xfrm>
            <a:off x="4764024" y="4882896"/>
            <a:ext cx="201168" cy="201168"/>
          </a:xfrm>
          <a:prstGeom prst="rect">
            <a:avLst/>
          </a:prstGeom>
        </p:spPr>
      </p:pic>
      <p:sp>
        <p:nvSpPr>
          <p:cNvPr id="22" name="Text 17"/>
          <p:cNvSpPr txBox="1"/>
          <p:nvPr/>
        </p:nvSpPr>
        <p:spPr>
          <a:xfrm>
            <a:off x="5038344" y="4773168"/>
            <a:ext cx="987552" cy="420624"/>
          </a:xfrm>
          <a:prstGeom prst="rect">
            <a:avLst/>
          </a:prstGeom>
          <a:noFill/>
          <a:ln/>
        </p:spPr>
        <p:txBody>
          <a:bodyPr wrap="square" lIns="0" tIns="0" rIns="0" bIns="0" rtlCol="0" anchor="ctr"/>
          <a:lstStyle/>
          <a:p>
            <a:pPr indent="0" marL="0">
              <a:buNone/>
            </a:pPr>
            <a:r>
              <a:rPr lang="en-US" sz="1500" b="1" dirty="0">
                <a:solidFill>
                  <a:srgbClr val="7A5600"/>
                </a:solidFill>
                <a:latin typeface="Calibri" pitchFamily="34" charset="0"/>
                <a:ea typeface="Calibri" pitchFamily="34" charset="-122"/>
                <a:cs typeface="Calibri" pitchFamily="34" charset="-120"/>
              </a:rPr>
              <a:t>Vague</a:t>
            </a:r>
            <a:endParaRPr lang="en-US" sz="1500" dirty="0"/>
          </a:p>
        </p:txBody>
      </p:sp>
      <p:sp>
        <p:nvSpPr>
          <p:cNvPr id="23" name="Text 18"/>
          <p:cNvSpPr txBox="1"/>
          <p:nvPr/>
        </p:nvSpPr>
        <p:spPr>
          <a:xfrm>
            <a:off x="4617720" y="5303520"/>
            <a:ext cx="2926080" cy="502920"/>
          </a:xfrm>
          <a:prstGeom prst="rect">
            <a:avLst/>
          </a:prstGeom>
          <a:noFill/>
          <a:ln/>
        </p:spPr>
        <p:txBody>
          <a:bodyPr wrap="square" lIns="0" tIns="0" rIns="0" bIns="0" rtlCol="0" anchor="ctr"/>
          <a:lstStyle/>
          <a:p>
            <a:pPr indent="0" marL="0">
              <a:buNone/>
            </a:pPr>
            <a:r>
              <a:rPr lang="en-US" sz="1400" b="1" dirty="0">
                <a:solidFill>
                  <a:srgbClr val="2B2420"/>
                </a:solidFill>
                <a:latin typeface="Calibri" pitchFamily="34" charset="0"/>
                <a:ea typeface="Calibri" pitchFamily="34" charset="-122"/>
                <a:cs typeface="Calibri" pitchFamily="34" charset="-120"/>
              </a:rPr>
              <a:t>Ask the brand what it covers.</a:t>
            </a:r>
            <a:endParaRPr lang="en-US" sz="1400" dirty="0"/>
          </a:p>
        </p:txBody>
      </p:sp>
      <p:sp>
        <p:nvSpPr>
          <p:cNvPr id="24" name="Shape 19"/>
          <p:cNvSpPr/>
          <p:nvPr/>
        </p:nvSpPr>
        <p:spPr>
          <a:xfrm>
            <a:off x="8138160" y="2103120"/>
            <a:ext cx="3429000" cy="3886200"/>
          </a:xfrm>
          <a:prstGeom prst="roundRect">
            <a:avLst>
              <a:gd name="adj" fmla="val 3733"/>
            </a:avLst>
          </a:prstGeom>
          <a:solidFill>
            <a:srgbClr val="FFFFFF"/>
          </a:solidFill>
          <a:ln w="12700">
            <a:solidFill>
              <a:srgbClr val="ECE3D8"/>
            </a:solidFill>
            <a:prstDash val="solid"/>
          </a:ln>
          <a:effectLst>
            <a:outerShdw sx="100000" sy="100000" kx="0" ky="0" algn="bl" rotWithShape="0" blurRad="127000" dist="38100" dir="5400000">
              <a:srgbClr val="503720">
                <a:alpha val="8000"/>
              </a:srgbClr>
            </a:outerShdw>
          </a:effectLst>
        </p:spPr>
      </p:sp>
      <p:sp>
        <p:nvSpPr>
          <p:cNvPr id="25" name="Text 20"/>
          <p:cNvSpPr txBox="1"/>
          <p:nvPr/>
        </p:nvSpPr>
        <p:spPr>
          <a:xfrm>
            <a:off x="8412480" y="2359152"/>
            <a:ext cx="2926080" cy="274320"/>
          </a:xfrm>
          <a:prstGeom prst="rect">
            <a:avLst/>
          </a:prstGeom>
          <a:noFill/>
          <a:ln/>
        </p:spPr>
        <p:txBody>
          <a:bodyPr wrap="square" lIns="0" tIns="0" rIns="0" bIns="0" rtlCol="0" anchor="ctr"/>
          <a:lstStyle/>
          <a:p>
            <a:pPr indent="0" marL="0">
              <a:buNone/>
            </a:pPr>
            <a:r>
              <a:rPr lang="en-US" sz="1100" b="1" spc="200" kern="0" dirty="0">
                <a:solidFill>
                  <a:srgbClr val="9A8D83"/>
                </a:solidFill>
                <a:latin typeface="Calibri" pitchFamily="34" charset="0"/>
                <a:ea typeface="Calibri" pitchFamily="34" charset="-122"/>
                <a:cs typeface="Calibri" pitchFamily="34" charset="-120"/>
              </a:rPr>
              <a:t>PACKAGING CLAIM</a:t>
            </a:r>
            <a:endParaRPr lang="en-US" sz="1100" dirty="0"/>
          </a:p>
        </p:txBody>
      </p:sp>
      <p:sp>
        <p:nvSpPr>
          <p:cNvPr id="26" name="Text 21"/>
          <p:cNvSpPr txBox="1"/>
          <p:nvPr/>
        </p:nvSpPr>
        <p:spPr>
          <a:xfrm>
            <a:off x="8412480" y="2670048"/>
            <a:ext cx="2926080" cy="868680"/>
          </a:xfrm>
          <a:prstGeom prst="rect">
            <a:avLst/>
          </a:prstGeom>
          <a:noFill/>
          <a:ln/>
        </p:spPr>
        <p:txBody>
          <a:bodyPr wrap="square" lIns="0" tIns="0" rIns="0" bIns="0" rtlCol="0" anchor="ctr"/>
          <a:lstStyle/>
          <a:p>
            <a:pPr indent="0" marL="0">
              <a:buNone/>
            </a:pPr>
            <a:r>
              <a:rPr lang="en-US" sz="1800" i="1" dirty="0">
                <a:solidFill>
                  <a:srgbClr val="2B2420"/>
                </a:solidFill>
                <a:latin typeface="Cambria" pitchFamily="34" charset="0"/>
                <a:ea typeface="Cambria" pitchFamily="34" charset="-122"/>
                <a:cs typeface="Cambria" pitchFamily="34" charset="-120"/>
              </a:rPr>
              <a:t>“Refill saves up to 58% glass.”</a:t>
            </a:r>
            <a:endParaRPr lang="en-US" sz="1800" dirty="0"/>
          </a:p>
        </p:txBody>
      </p:sp>
      <p:sp>
        <p:nvSpPr>
          <p:cNvPr id="27" name="Text 22"/>
          <p:cNvSpPr txBox="1"/>
          <p:nvPr/>
        </p:nvSpPr>
        <p:spPr>
          <a:xfrm>
            <a:off x="8412480" y="3657600"/>
            <a:ext cx="2926080" cy="256032"/>
          </a:xfrm>
          <a:prstGeom prst="rect">
            <a:avLst/>
          </a:prstGeom>
          <a:noFill/>
          <a:ln/>
        </p:spPr>
        <p:txBody>
          <a:bodyPr wrap="square" lIns="0" tIns="0" rIns="0" bIns="0" rtlCol="0" anchor="ctr"/>
          <a:lstStyle/>
          <a:p>
            <a:pPr indent="0" marL="0">
              <a:buNone/>
            </a:pPr>
            <a:r>
              <a:rPr lang="en-US" sz="1000" b="1" spc="200" kern="0" dirty="0">
                <a:solidFill>
                  <a:srgbClr val="9A8D83"/>
                </a:solidFill>
                <a:latin typeface="Calibri" pitchFamily="34" charset="0"/>
                <a:ea typeface="Calibri" pitchFamily="34" charset="-122"/>
                <a:cs typeface="Calibri" pitchFamily="34" charset="-120"/>
              </a:rPr>
              <a:t>WHAT THE AGENT DOES</a:t>
            </a:r>
            <a:endParaRPr lang="en-US" sz="1000" dirty="0"/>
          </a:p>
        </p:txBody>
      </p:sp>
      <p:sp>
        <p:nvSpPr>
          <p:cNvPr id="28" name="Text 23"/>
          <p:cNvSpPr txBox="1"/>
          <p:nvPr/>
        </p:nvSpPr>
        <p:spPr>
          <a:xfrm>
            <a:off x="8412480" y="3913632"/>
            <a:ext cx="2926080" cy="73152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Finds the stated basis, but the data behind the numbers is not public.</a:t>
            </a:r>
            <a:endParaRPr lang="en-US" sz="1400" dirty="0"/>
          </a:p>
        </p:txBody>
      </p:sp>
      <p:sp>
        <p:nvSpPr>
          <p:cNvPr id="29" name="Shape 24"/>
          <p:cNvSpPr/>
          <p:nvPr/>
        </p:nvSpPr>
        <p:spPr>
          <a:xfrm>
            <a:off x="8412480" y="4773168"/>
            <a:ext cx="2606040" cy="420624"/>
          </a:xfrm>
          <a:prstGeom prst="roundRect">
            <a:avLst>
              <a:gd name="adj" fmla="val 50000"/>
            </a:avLst>
          </a:prstGeom>
          <a:solidFill>
            <a:srgbClr val="FDEBE1"/>
          </a:solidFill>
          <a:ln w="12700">
            <a:solidFill>
              <a:srgbClr val="FDEBE1"/>
            </a:solidFill>
            <a:prstDash val="solid"/>
          </a:ln>
        </p:spPr>
      </p:sp>
      <p:pic>
        <p:nvPicPr>
          <p:cNvPr id="30" name="Image 3" descr="preencoded.png">    </p:cNvPr>
          <p:cNvPicPr>
            <a:picLocks noChangeAspect="1"/>
          </p:cNvPicPr>
          <p:nvPr/>
        </p:nvPicPr>
        <p:blipFill>
          <a:blip r:embed="rId4"/>
          <a:stretch>
            <a:fillRect/>
          </a:stretch>
        </p:blipFill>
        <p:spPr>
          <a:xfrm>
            <a:off x="8558784" y="4882896"/>
            <a:ext cx="201168" cy="201168"/>
          </a:xfrm>
          <a:prstGeom prst="rect">
            <a:avLst/>
          </a:prstGeom>
        </p:spPr>
      </p:pic>
      <p:sp>
        <p:nvSpPr>
          <p:cNvPr id="31" name="Text 25"/>
          <p:cNvSpPr txBox="1"/>
          <p:nvPr/>
        </p:nvSpPr>
        <p:spPr>
          <a:xfrm>
            <a:off x="8833104" y="4773168"/>
            <a:ext cx="2130552" cy="420624"/>
          </a:xfrm>
          <a:prstGeom prst="rect">
            <a:avLst/>
          </a:prstGeom>
          <a:noFill/>
          <a:ln/>
        </p:spPr>
        <p:txBody>
          <a:bodyPr wrap="square" lIns="0" tIns="0" rIns="0" bIns="0" rtlCol="0" anchor="ctr"/>
          <a:lstStyle/>
          <a:p>
            <a:pPr indent="0" marL="0">
              <a:buNone/>
            </a:pPr>
            <a:r>
              <a:rPr lang="en-US" sz="1500" b="1" dirty="0">
                <a:solidFill>
                  <a:srgbClr val="B4471A"/>
                </a:solidFill>
                <a:latin typeface="Calibri" pitchFamily="34" charset="0"/>
                <a:ea typeface="Calibri" pitchFamily="34" charset="-122"/>
                <a:cs typeface="Calibri" pitchFamily="34" charset="-120"/>
              </a:rPr>
              <a:t>Evidence not public</a:t>
            </a:r>
            <a:endParaRPr lang="en-US" sz="1500" dirty="0"/>
          </a:p>
        </p:txBody>
      </p:sp>
      <p:sp>
        <p:nvSpPr>
          <p:cNvPr id="32" name="Text 26"/>
          <p:cNvSpPr txBox="1"/>
          <p:nvPr/>
        </p:nvSpPr>
        <p:spPr>
          <a:xfrm>
            <a:off x="8412480" y="5303520"/>
            <a:ext cx="2926080" cy="502920"/>
          </a:xfrm>
          <a:prstGeom prst="rect">
            <a:avLst/>
          </a:prstGeom>
          <a:noFill/>
          <a:ln/>
        </p:spPr>
        <p:txBody>
          <a:bodyPr wrap="square" lIns="0" tIns="0" rIns="0" bIns="0" rtlCol="0" anchor="ctr"/>
          <a:lstStyle/>
          <a:p>
            <a:pPr indent="0" marL="0">
              <a:buNone/>
            </a:pPr>
            <a:r>
              <a:rPr lang="en-US" sz="1400" b="1" dirty="0">
                <a:solidFill>
                  <a:srgbClr val="2B2420"/>
                </a:solidFill>
                <a:latin typeface="Calibri" pitchFamily="34" charset="0"/>
                <a:ea typeface="Calibri" pitchFamily="34" charset="-122"/>
                <a:cs typeface="Calibri" pitchFamily="34" charset="-120"/>
              </a:rPr>
              <a:t>Ask the brand for the numbers.</a:t>
            </a:r>
            <a:endParaRPr lang="en-US" sz="1400" dirty="0"/>
          </a:p>
        </p:txBody>
      </p:sp>
      <p:sp>
        <p:nvSpPr>
          <p:cNvPr id="33" name="Text 27"/>
          <p:cNvSpPr txBox="1"/>
          <p:nvPr/>
        </p:nvSpPr>
        <p:spPr>
          <a:xfrm>
            <a:off x="548640" y="6263640"/>
            <a:ext cx="3657600" cy="274320"/>
          </a:xfrm>
          <a:prstGeom prst="rect">
            <a:avLst/>
          </a:prstGeom>
          <a:noFill/>
          <a:ln/>
        </p:spPr>
        <p:txBody>
          <a:bodyPr wrap="square" lIns="0" tIns="0" rIns="0" bIns="0" rtlCol="0" anchor="ctr"/>
          <a:lstStyle/>
          <a:p>
            <a:pPr indent="0" marL="0">
              <a:buNone/>
            </a:pPr>
            <a:r>
              <a:rPr lang="en-US" sz="1200" i="1" dirty="0">
                <a:solidFill>
                  <a:srgbClr val="C4501A"/>
                </a:solidFill>
                <a:latin typeface="Calibri" pitchFamily="34" charset="0"/>
                <a:ea typeface="Calibri" pitchFamily="34" charset="-122"/>
                <a:cs typeface="Calibri" pitchFamily="34" charset="-120"/>
              </a:rPr>
              <a:t>Live demo follows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8F2"/>
        </a:solidFill>
      </p:bgPr>
    </p:bg>
    <p:spTree>
      <p:nvGrpSpPr>
        <p:cNvPr id="1" name=""/>
        <p:cNvGrpSpPr/>
        <p:nvPr/>
      </p:nvGrpSpPr>
      <p:grpSpPr>
        <a:xfrm>
          <a:off x="0" y="0"/>
          <a:ext cx="0" cy="0"/>
          <a:chOff x="0" y="0"/>
          <a:chExt cx="0" cy="0"/>
        </a:xfrm>
      </p:grpSpPr>
      <p:sp>
        <p:nvSpPr>
          <p:cNvPr id="2" name="Text 0"/>
          <p:cNvSpPr txBox="1"/>
          <p:nvPr/>
        </p:nvSpPr>
        <p:spPr>
          <a:xfrm>
            <a:off x="548640" y="411480"/>
            <a:ext cx="2743200" cy="457200"/>
          </a:xfrm>
          <a:prstGeom prst="rect">
            <a:avLst/>
          </a:prstGeom>
          <a:noFill/>
          <a:ln/>
        </p:spPr>
        <p:txBody>
          <a:bodyPr wrap="square" lIns="0" tIns="0" rIns="0" bIns="0" rtlCol="0" anchor="ctr"/>
          <a:lstStyle/>
          <a:p>
            <a:pPr indent="0" marL="0">
              <a:buNone/>
            </a:pPr>
            <a:r>
              <a:rPr lang="en-US" sz="2400" dirty="0">
                <a:solidFill>
                  <a:srgbClr val="2B2420"/>
                </a:solidFill>
                <a:latin typeface="Cambria" pitchFamily="34" charset="0"/>
                <a:ea typeface="Cambria" pitchFamily="34" charset="-122"/>
                <a:cs typeface="Cambria" pitchFamily="34" charset="-120"/>
              </a:rPr>
              <a:t>Proof</a:t>
            </a:r>
            <a:pPr indent="0" marL="0">
              <a:buNone/>
            </a:pPr>
            <a:r>
              <a:rPr lang="en-US" sz="2400" u="sng" dirty="0">
                <a:solidFill>
                  <a:srgbClr val="2B2420"/>
                </a:solidFill>
                <a:uFill>
                  <a:solidFill>
                    <a:srgbClr val="F2B33D"/>
                  </a:solidFill>
                </a:uFill>
                <a:latin typeface="Cambria" pitchFamily="34" charset="0"/>
                <a:ea typeface="Cambria" pitchFamily="34" charset="-122"/>
                <a:cs typeface="Cambria" pitchFamily="34" charset="-120"/>
              </a:rPr>
              <a:t>Trace</a:t>
            </a:r>
            <a:endParaRPr lang="en-US" sz="2400" dirty="0"/>
          </a:p>
        </p:txBody>
      </p:sp>
      <p:sp>
        <p:nvSpPr>
          <p:cNvPr id="3" name="Shape 1"/>
          <p:cNvSpPr/>
          <p:nvPr/>
        </p:nvSpPr>
        <p:spPr>
          <a:xfrm>
            <a:off x="2011680" y="384048"/>
            <a:ext cx="219456" cy="219456"/>
          </a:xfrm>
          <a:prstGeom prst="ellipse">
            <a:avLst/>
          </a:prstGeom>
          <a:solidFill>
            <a:srgbClr val="C4501A"/>
          </a:solidFill>
          <a:ln w="12700">
            <a:solidFill>
              <a:srgbClr val="C4501A"/>
            </a:solidFill>
            <a:prstDash val="solid"/>
          </a:ln>
        </p:spPr>
      </p:sp>
      <p:pic>
        <p:nvPicPr>
          <p:cNvPr id="4" name="Image 0" descr="preencoded.png">    </p:cNvPr>
          <p:cNvPicPr>
            <a:picLocks noChangeAspect="1"/>
          </p:cNvPicPr>
          <p:nvPr/>
        </p:nvPicPr>
        <p:blipFill>
          <a:blip r:embed="rId1"/>
          <a:stretch>
            <a:fillRect/>
          </a:stretch>
        </p:blipFill>
        <p:spPr>
          <a:xfrm>
            <a:off x="2057400" y="429768"/>
            <a:ext cx="128016" cy="128016"/>
          </a:xfrm>
          <a:prstGeom prst="rect">
            <a:avLst/>
          </a:prstGeom>
        </p:spPr>
      </p:pic>
      <p:sp>
        <p:nvSpPr>
          <p:cNvPr id="5" name="Text 2"/>
          <p:cNvSpPr txBox="1"/>
          <p:nvPr/>
        </p:nvSpPr>
        <p:spPr>
          <a:xfrm>
            <a:off x="548640" y="1097280"/>
            <a:ext cx="10972800" cy="731520"/>
          </a:xfrm>
          <a:prstGeom prst="rect">
            <a:avLst/>
          </a:prstGeom>
          <a:noFill/>
          <a:ln/>
        </p:spPr>
        <p:txBody>
          <a:bodyPr wrap="square" lIns="0" tIns="0" rIns="0" bIns="0" rtlCol="0" anchor="ctr"/>
          <a:lstStyle/>
          <a:p>
            <a:pPr indent="0" marL="0">
              <a:buNone/>
            </a:pPr>
            <a:r>
              <a:rPr lang="en-US" sz="3400" dirty="0">
                <a:solidFill>
                  <a:srgbClr val="2B2420"/>
                </a:solidFill>
                <a:latin typeface="Cambria" pitchFamily="34" charset="0"/>
                <a:ea typeface="Cambria" pitchFamily="34" charset="-122"/>
                <a:cs typeface="Cambria" pitchFamily="34" charset="-120"/>
              </a:rPr>
              <a:t>Who pays, and why it matters</a:t>
            </a:r>
            <a:endParaRPr lang="en-US" sz="3400" dirty="0"/>
          </a:p>
        </p:txBody>
      </p:sp>
      <p:sp>
        <p:nvSpPr>
          <p:cNvPr id="6" name="Shape 3"/>
          <p:cNvSpPr/>
          <p:nvPr/>
        </p:nvSpPr>
        <p:spPr>
          <a:xfrm>
            <a:off x="548640" y="2148840"/>
            <a:ext cx="5120640" cy="3566160"/>
          </a:xfrm>
          <a:prstGeom prst="roundRect">
            <a:avLst>
              <a:gd name="adj" fmla="val 4103"/>
            </a:avLst>
          </a:prstGeom>
          <a:solidFill>
            <a:srgbClr val="2B2420"/>
          </a:solidFill>
          <a:ln w="12700">
            <a:solidFill>
              <a:srgbClr val="2B2420"/>
            </a:solidFill>
            <a:prstDash val="solid"/>
          </a:ln>
        </p:spPr>
      </p:sp>
      <p:sp>
        <p:nvSpPr>
          <p:cNvPr id="7" name="Text 4"/>
          <p:cNvSpPr txBox="1"/>
          <p:nvPr/>
        </p:nvSpPr>
        <p:spPr>
          <a:xfrm>
            <a:off x="868680" y="2514600"/>
            <a:ext cx="4572000" cy="822960"/>
          </a:xfrm>
          <a:prstGeom prst="rect">
            <a:avLst/>
          </a:prstGeom>
          <a:noFill/>
          <a:ln/>
        </p:spPr>
        <p:txBody>
          <a:bodyPr wrap="square" lIns="0" tIns="0" rIns="0" bIns="0" rtlCol="0" anchor="ctr"/>
          <a:lstStyle/>
          <a:p>
            <a:pPr indent="0" marL="0">
              <a:buNone/>
            </a:pPr>
            <a:r>
              <a:rPr lang="en-US" sz="4000" dirty="0">
                <a:solidFill>
                  <a:srgbClr val="F2B33D"/>
                </a:solidFill>
                <a:latin typeface="Cambria" pitchFamily="34" charset="0"/>
                <a:ea typeface="Cambria" pitchFamily="34" charset="-122"/>
                <a:cs typeface="Cambria" pitchFamily="34" charset="-120"/>
              </a:rPr>
              <a:t>We already pay.</a:t>
            </a:r>
            <a:endParaRPr lang="en-US" sz="4000" dirty="0"/>
          </a:p>
        </p:txBody>
      </p:sp>
      <p:sp>
        <p:nvSpPr>
          <p:cNvPr id="8" name="Text 5"/>
          <p:cNvSpPr txBox="1"/>
          <p:nvPr/>
        </p:nvSpPr>
        <p:spPr>
          <a:xfrm>
            <a:off x="868680" y="3429000"/>
            <a:ext cx="4480560" cy="10972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With our money, our health and our planet, every time we trust a label.</a:t>
            </a:r>
            <a:endParaRPr lang="en-US" sz="2000" dirty="0"/>
          </a:p>
        </p:txBody>
      </p:sp>
      <p:sp>
        <p:nvSpPr>
          <p:cNvPr id="9" name="Text 6"/>
          <p:cNvSpPr txBox="1"/>
          <p:nvPr/>
        </p:nvSpPr>
        <p:spPr>
          <a:xfrm>
            <a:off x="868680" y="4846320"/>
            <a:ext cx="4480560" cy="457200"/>
          </a:xfrm>
          <a:prstGeom prst="rect">
            <a:avLst/>
          </a:prstGeom>
          <a:noFill/>
          <a:ln/>
        </p:spPr>
        <p:txBody>
          <a:bodyPr wrap="square" lIns="0" tIns="0" rIns="0" bIns="0" rtlCol="0" anchor="ctr"/>
          <a:lstStyle/>
          <a:p>
            <a:pPr indent="0" marL="0">
              <a:buNone/>
            </a:pPr>
            <a:r>
              <a:rPr lang="en-US" sz="1500" i="1" dirty="0">
                <a:solidFill>
                  <a:srgbClr val="D9CFC6"/>
                </a:solidFill>
                <a:latin typeface="Calibri" pitchFamily="34" charset="0"/>
                <a:ea typeface="Calibri" pitchFamily="34" charset="-122"/>
                <a:cs typeface="Calibri" pitchFamily="34" charset="-120"/>
              </a:rPr>
              <a:t>ProofTrace makes sure the promise is worth it.</a:t>
            </a:r>
            <a:endParaRPr lang="en-US" sz="1500" dirty="0"/>
          </a:p>
        </p:txBody>
      </p:sp>
      <p:sp>
        <p:nvSpPr>
          <p:cNvPr id="10" name="Shape 7"/>
          <p:cNvSpPr/>
          <p:nvPr/>
        </p:nvSpPr>
        <p:spPr>
          <a:xfrm>
            <a:off x="6172200" y="2240280"/>
            <a:ext cx="329184" cy="329184"/>
          </a:xfrm>
          <a:prstGeom prst="ellipse">
            <a:avLst/>
          </a:prstGeom>
          <a:solidFill>
            <a:srgbClr val="FBE7DA"/>
          </a:solidFill>
          <a:ln w="12700">
            <a:solidFill>
              <a:srgbClr val="FBE7DA"/>
            </a:solidFill>
            <a:prstDash val="solid"/>
          </a:ln>
        </p:spPr>
      </p:sp>
      <p:sp>
        <p:nvSpPr>
          <p:cNvPr id="11" name="Text 8"/>
          <p:cNvSpPr txBox="1"/>
          <p:nvPr/>
        </p:nvSpPr>
        <p:spPr>
          <a:xfrm>
            <a:off x="6172200" y="2240280"/>
            <a:ext cx="329184" cy="329184"/>
          </a:xfrm>
          <a:prstGeom prst="rect">
            <a:avLst/>
          </a:prstGeom>
          <a:noFill/>
          <a:ln/>
        </p:spPr>
        <p:txBody>
          <a:bodyPr wrap="square" lIns="0" tIns="0" rIns="0" bIns="0" rtlCol="0" anchor="ctr"/>
          <a:lstStyle/>
          <a:p>
            <a:pPr algn="ctr" indent="0" marL="0">
              <a:buNone/>
            </a:pPr>
            <a:r>
              <a:rPr lang="en-US" sz="1300" b="1" dirty="0">
                <a:solidFill>
                  <a:srgbClr val="C4501A"/>
                </a:solidFill>
                <a:latin typeface="Calibri" pitchFamily="34" charset="0"/>
                <a:ea typeface="Calibri" pitchFamily="34" charset="-122"/>
                <a:cs typeface="Calibri" pitchFamily="34" charset="-120"/>
              </a:rPr>
              <a:t>1</a:t>
            </a:r>
            <a:endParaRPr lang="en-US" sz="1300" dirty="0"/>
          </a:p>
        </p:txBody>
      </p:sp>
      <p:sp>
        <p:nvSpPr>
          <p:cNvPr id="12" name="Text 9"/>
          <p:cNvSpPr txBox="1"/>
          <p:nvPr/>
        </p:nvSpPr>
        <p:spPr>
          <a:xfrm>
            <a:off x="6720840" y="2194560"/>
            <a:ext cx="4937760" cy="329184"/>
          </a:xfrm>
          <a:prstGeom prst="rect">
            <a:avLst/>
          </a:prstGeom>
          <a:noFill/>
          <a:ln/>
        </p:spPr>
        <p:txBody>
          <a:bodyPr wrap="square" lIns="0" tIns="0" rIns="0" bIns="0" rtlCol="0" anchor="ctr"/>
          <a:lstStyle/>
          <a:p>
            <a:pPr indent="0" marL="0">
              <a:buNone/>
            </a:pPr>
            <a:r>
              <a:rPr lang="en-US" sz="1700" b="1" dirty="0">
                <a:solidFill>
                  <a:srgbClr val="2B2420"/>
                </a:solidFill>
                <a:latin typeface="Calibri" pitchFamily="34" charset="0"/>
                <a:ea typeface="Calibri" pitchFamily="34" charset="-122"/>
                <a:cs typeface="Calibri" pitchFamily="34" charset="-120"/>
              </a:rPr>
              <a:t>Our health</a:t>
            </a:r>
            <a:endParaRPr lang="en-US" sz="1700" dirty="0"/>
          </a:p>
        </p:txBody>
      </p:sp>
      <p:sp>
        <p:nvSpPr>
          <p:cNvPr id="13" name="Text 10"/>
          <p:cNvSpPr txBox="1"/>
          <p:nvPr/>
        </p:nvSpPr>
        <p:spPr>
          <a:xfrm>
            <a:off x="6720840" y="2542032"/>
            <a:ext cx="4937760" cy="50292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What touches our skin every day should be what it says.</a:t>
            </a:r>
            <a:endParaRPr lang="en-US" sz="1400" dirty="0"/>
          </a:p>
        </p:txBody>
      </p:sp>
      <p:sp>
        <p:nvSpPr>
          <p:cNvPr id="14" name="Shape 11"/>
          <p:cNvSpPr/>
          <p:nvPr/>
        </p:nvSpPr>
        <p:spPr>
          <a:xfrm>
            <a:off x="6172200" y="3136392"/>
            <a:ext cx="329184" cy="329184"/>
          </a:xfrm>
          <a:prstGeom prst="ellipse">
            <a:avLst/>
          </a:prstGeom>
          <a:solidFill>
            <a:srgbClr val="FBE7DA"/>
          </a:solidFill>
          <a:ln w="12700">
            <a:solidFill>
              <a:srgbClr val="FBE7DA"/>
            </a:solidFill>
            <a:prstDash val="solid"/>
          </a:ln>
        </p:spPr>
      </p:sp>
      <p:sp>
        <p:nvSpPr>
          <p:cNvPr id="15" name="Text 12"/>
          <p:cNvSpPr txBox="1"/>
          <p:nvPr/>
        </p:nvSpPr>
        <p:spPr>
          <a:xfrm>
            <a:off x="6172200" y="3136392"/>
            <a:ext cx="329184" cy="329184"/>
          </a:xfrm>
          <a:prstGeom prst="rect">
            <a:avLst/>
          </a:prstGeom>
          <a:noFill/>
          <a:ln/>
        </p:spPr>
        <p:txBody>
          <a:bodyPr wrap="square" lIns="0" tIns="0" rIns="0" bIns="0" rtlCol="0" anchor="ctr"/>
          <a:lstStyle/>
          <a:p>
            <a:pPr algn="ctr" indent="0" marL="0">
              <a:buNone/>
            </a:pPr>
            <a:r>
              <a:rPr lang="en-US" sz="1300" b="1" dirty="0">
                <a:solidFill>
                  <a:srgbClr val="C4501A"/>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6720840" y="3090672"/>
            <a:ext cx="4937760" cy="329184"/>
          </a:xfrm>
          <a:prstGeom prst="rect">
            <a:avLst/>
          </a:prstGeom>
          <a:noFill/>
          <a:ln/>
        </p:spPr>
        <p:txBody>
          <a:bodyPr wrap="square" lIns="0" tIns="0" rIns="0" bIns="0" rtlCol="0" anchor="ctr"/>
          <a:lstStyle/>
          <a:p>
            <a:pPr indent="0" marL="0">
              <a:buNone/>
            </a:pPr>
            <a:r>
              <a:rPr lang="en-US" sz="1700" b="1" dirty="0">
                <a:solidFill>
                  <a:srgbClr val="2B2420"/>
                </a:solidFill>
                <a:latin typeface="Calibri" pitchFamily="34" charset="0"/>
                <a:ea typeface="Calibri" pitchFamily="34" charset="-122"/>
                <a:cs typeface="Calibri" pitchFamily="34" charset="-120"/>
              </a:rPr>
              <a:t>Our wellbeing</a:t>
            </a:r>
            <a:endParaRPr lang="en-US" sz="1700" dirty="0"/>
          </a:p>
        </p:txBody>
      </p:sp>
      <p:sp>
        <p:nvSpPr>
          <p:cNvPr id="17" name="Text 14"/>
          <p:cNvSpPr txBox="1"/>
          <p:nvPr/>
        </p:nvSpPr>
        <p:spPr>
          <a:xfrm>
            <a:off x="6720840" y="3438144"/>
            <a:ext cx="4937760" cy="50292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Knowing brings peace of mind, not doubt at every shelf.</a:t>
            </a:r>
            <a:endParaRPr lang="en-US" sz="1400" dirty="0"/>
          </a:p>
        </p:txBody>
      </p:sp>
      <p:sp>
        <p:nvSpPr>
          <p:cNvPr id="18" name="Shape 15"/>
          <p:cNvSpPr/>
          <p:nvPr/>
        </p:nvSpPr>
        <p:spPr>
          <a:xfrm>
            <a:off x="6172200" y="4032504"/>
            <a:ext cx="329184" cy="329184"/>
          </a:xfrm>
          <a:prstGeom prst="ellipse">
            <a:avLst/>
          </a:prstGeom>
          <a:solidFill>
            <a:srgbClr val="FBE7DA"/>
          </a:solidFill>
          <a:ln w="12700">
            <a:solidFill>
              <a:srgbClr val="FBE7DA"/>
            </a:solidFill>
            <a:prstDash val="solid"/>
          </a:ln>
        </p:spPr>
      </p:sp>
      <p:sp>
        <p:nvSpPr>
          <p:cNvPr id="19" name="Text 16"/>
          <p:cNvSpPr txBox="1"/>
          <p:nvPr/>
        </p:nvSpPr>
        <p:spPr>
          <a:xfrm>
            <a:off x="6172200" y="4032504"/>
            <a:ext cx="329184" cy="329184"/>
          </a:xfrm>
          <a:prstGeom prst="rect">
            <a:avLst/>
          </a:prstGeom>
          <a:noFill/>
          <a:ln/>
        </p:spPr>
        <p:txBody>
          <a:bodyPr wrap="square" lIns="0" tIns="0" rIns="0" bIns="0" rtlCol="0" anchor="ctr"/>
          <a:lstStyle/>
          <a:p>
            <a:pPr algn="ctr" indent="0" marL="0">
              <a:buNone/>
            </a:pPr>
            <a:r>
              <a:rPr lang="en-US" sz="1300" b="1" dirty="0">
                <a:solidFill>
                  <a:srgbClr val="C4501A"/>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6720840" y="3986784"/>
            <a:ext cx="4937760" cy="329184"/>
          </a:xfrm>
          <a:prstGeom prst="rect">
            <a:avLst/>
          </a:prstGeom>
          <a:noFill/>
          <a:ln/>
        </p:spPr>
        <p:txBody>
          <a:bodyPr wrap="square" lIns="0" tIns="0" rIns="0" bIns="0" rtlCol="0" anchor="ctr"/>
          <a:lstStyle/>
          <a:p>
            <a:pPr indent="0" marL="0">
              <a:buNone/>
            </a:pPr>
            <a:r>
              <a:rPr lang="en-US" sz="1700" b="1" dirty="0">
                <a:solidFill>
                  <a:srgbClr val="2B2420"/>
                </a:solidFill>
                <a:latin typeface="Calibri" pitchFamily="34" charset="0"/>
                <a:ea typeface="Calibri" pitchFamily="34" charset="-122"/>
                <a:cs typeface="Calibri" pitchFamily="34" charset="-120"/>
              </a:rPr>
              <a:t>Our planet</a:t>
            </a:r>
            <a:endParaRPr lang="en-US" sz="1700" dirty="0"/>
          </a:p>
        </p:txBody>
      </p:sp>
      <p:sp>
        <p:nvSpPr>
          <p:cNvPr id="21" name="Text 18"/>
          <p:cNvSpPr txBox="1"/>
          <p:nvPr/>
        </p:nvSpPr>
        <p:spPr>
          <a:xfrm>
            <a:off x="6720840" y="4334256"/>
            <a:ext cx="4937760" cy="50292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An unchecked promise hides a real cost somewhere in the supply chain.</a:t>
            </a:r>
            <a:endParaRPr lang="en-US" sz="1400" dirty="0"/>
          </a:p>
        </p:txBody>
      </p:sp>
      <p:sp>
        <p:nvSpPr>
          <p:cNvPr id="22" name="Shape 19"/>
          <p:cNvSpPr/>
          <p:nvPr/>
        </p:nvSpPr>
        <p:spPr>
          <a:xfrm>
            <a:off x="6172200" y="4928616"/>
            <a:ext cx="329184" cy="329184"/>
          </a:xfrm>
          <a:prstGeom prst="ellipse">
            <a:avLst/>
          </a:prstGeom>
          <a:solidFill>
            <a:srgbClr val="FBE7DA"/>
          </a:solidFill>
          <a:ln w="12700">
            <a:solidFill>
              <a:srgbClr val="FBE7DA"/>
            </a:solidFill>
            <a:prstDash val="solid"/>
          </a:ln>
        </p:spPr>
      </p:sp>
      <p:sp>
        <p:nvSpPr>
          <p:cNvPr id="23" name="Text 20"/>
          <p:cNvSpPr txBox="1"/>
          <p:nvPr/>
        </p:nvSpPr>
        <p:spPr>
          <a:xfrm>
            <a:off x="6172200" y="4928616"/>
            <a:ext cx="329184" cy="329184"/>
          </a:xfrm>
          <a:prstGeom prst="rect">
            <a:avLst/>
          </a:prstGeom>
          <a:noFill/>
          <a:ln/>
        </p:spPr>
        <p:txBody>
          <a:bodyPr wrap="square" lIns="0" tIns="0" rIns="0" bIns="0" rtlCol="0" anchor="ctr"/>
          <a:lstStyle/>
          <a:p>
            <a:pPr algn="ctr" indent="0" marL="0">
              <a:buNone/>
            </a:pPr>
            <a:r>
              <a:rPr lang="en-US" sz="1300" b="1" dirty="0">
                <a:solidFill>
                  <a:srgbClr val="C4501A"/>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6720840" y="4882896"/>
            <a:ext cx="4937760" cy="329184"/>
          </a:xfrm>
          <a:prstGeom prst="rect">
            <a:avLst/>
          </a:prstGeom>
          <a:noFill/>
          <a:ln/>
        </p:spPr>
        <p:txBody>
          <a:bodyPr wrap="square" lIns="0" tIns="0" rIns="0" bIns="0" rtlCol="0" anchor="ctr"/>
          <a:lstStyle/>
          <a:p>
            <a:pPr indent="0" marL="0">
              <a:buNone/>
            </a:pPr>
            <a:r>
              <a:rPr lang="en-US" sz="1700" b="1" dirty="0">
                <a:solidFill>
                  <a:srgbClr val="2B2420"/>
                </a:solidFill>
                <a:latin typeface="Calibri" pitchFamily="34" charset="0"/>
                <a:ea typeface="Calibri" pitchFamily="34" charset="-122"/>
                <a:cs typeface="Calibri" pitchFamily="34" charset="-120"/>
              </a:rPr>
              <a:t>Who pays for ProofTrace</a:t>
            </a:r>
            <a:endParaRPr lang="en-US" sz="1700" dirty="0"/>
          </a:p>
        </p:txBody>
      </p:sp>
      <p:sp>
        <p:nvSpPr>
          <p:cNvPr id="25" name="Text 22"/>
          <p:cNvSpPr txBox="1"/>
          <p:nvPr/>
        </p:nvSpPr>
        <p:spPr>
          <a:xfrm>
            <a:off x="6720840" y="5230368"/>
            <a:ext cx="4937760" cy="502920"/>
          </a:xfrm>
          <a:prstGeom prst="rect">
            <a:avLst/>
          </a:prstGeom>
          <a:noFill/>
          <a:ln/>
        </p:spPr>
        <p:txBody>
          <a:bodyPr wrap="square" lIns="0" tIns="0" rIns="0" bIns="0" rtlCol="0" anchor="ctr"/>
          <a:lstStyle/>
          <a:p>
            <a:pPr indent="0" marL="0">
              <a:buNone/>
            </a:pPr>
            <a:r>
              <a:rPr lang="en-US" sz="1400" dirty="0">
                <a:solidFill>
                  <a:srgbClr val="74685F"/>
                </a:solidFill>
                <a:latin typeface="Calibri" pitchFamily="34" charset="0"/>
                <a:ea typeface="Calibri" pitchFamily="34" charset="-122"/>
                <a:cs typeface="Calibri" pitchFamily="34" charset="-120"/>
              </a:rPr>
              <a:t>Brands and retailers, to check their claims before they reach us. Subscription, priced by pages checked.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420"/>
        </a:solidFill>
      </p:bgPr>
    </p:bg>
    <p:spTree>
      <p:nvGrpSpPr>
        <p:cNvPr id="1" name=""/>
        <p:cNvGrpSpPr/>
        <p:nvPr/>
      </p:nvGrpSpPr>
      <p:grpSpPr>
        <a:xfrm>
          <a:off x="0" y="0"/>
          <a:ext cx="0" cy="0"/>
          <a:chOff x="0" y="0"/>
          <a:chExt cx="0" cy="0"/>
        </a:xfrm>
      </p:grpSpPr>
      <p:sp>
        <p:nvSpPr>
          <p:cNvPr id="2" name="Text 0"/>
          <p:cNvSpPr txBox="1"/>
          <p:nvPr/>
        </p:nvSpPr>
        <p:spPr>
          <a:xfrm>
            <a:off x="548640" y="411480"/>
            <a:ext cx="2743200" cy="457200"/>
          </a:xfrm>
          <a:prstGeom prst="rect">
            <a:avLst/>
          </a:prstGeom>
          <a:noFill/>
          <a:ln/>
        </p:spPr>
        <p:txBody>
          <a:bodyPr wrap="square" lIns="0" tIns="0" rIns="0" bIns="0" rtlCol="0" anchor="ctr"/>
          <a:lstStyle/>
          <a:p>
            <a:pPr indent="0" marL="0">
              <a:buNone/>
            </a:pPr>
            <a:r>
              <a:rPr lang="en-US" sz="2400" dirty="0">
                <a:solidFill>
                  <a:srgbClr val="FFFFFF"/>
                </a:solidFill>
                <a:latin typeface="Cambria" pitchFamily="34" charset="0"/>
                <a:ea typeface="Cambria" pitchFamily="34" charset="-122"/>
                <a:cs typeface="Cambria" pitchFamily="34" charset="-120"/>
              </a:rPr>
              <a:t>Proof</a:t>
            </a:r>
            <a:pPr indent="0" marL="0">
              <a:buNone/>
            </a:pPr>
            <a:r>
              <a:rPr lang="en-US" sz="2400" u="sng" dirty="0">
                <a:solidFill>
                  <a:srgbClr val="FFFFFF"/>
                </a:solidFill>
                <a:uFill>
                  <a:solidFill>
                    <a:srgbClr val="F2B33D"/>
                  </a:solidFill>
                </a:uFill>
                <a:latin typeface="Cambria" pitchFamily="34" charset="0"/>
                <a:ea typeface="Cambria" pitchFamily="34" charset="-122"/>
                <a:cs typeface="Cambria" pitchFamily="34" charset="-120"/>
              </a:rPr>
              <a:t>Trace</a:t>
            </a:r>
            <a:endParaRPr lang="en-US" sz="2400" dirty="0"/>
          </a:p>
        </p:txBody>
      </p:sp>
      <p:sp>
        <p:nvSpPr>
          <p:cNvPr id="3" name="Shape 1"/>
          <p:cNvSpPr/>
          <p:nvPr/>
        </p:nvSpPr>
        <p:spPr>
          <a:xfrm>
            <a:off x="2011680" y="384048"/>
            <a:ext cx="219456" cy="219456"/>
          </a:xfrm>
          <a:prstGeom prst="ellipse">
            <a:avLst/>
          </a:prstGeom>
          <a:solidFill>
            <a:srgbClr val="C4501A"/>
          </a:solidFill>
          <a:ln w="12700">
            <a:solidFill>
              <a:srgbClr val="C4501A"/>
            </a:solidFill>
            <a:prstDash val="solid"/>
          </a:ln>
        </p:spPr>
      </p:sp>
      <p:pic>
        <p:nvPicPr>
          <p:cNvPr id="4" name="Image 0" descr="preencoded.png">    </p:cNvPr>
          <p:cNvPicPr>
            <a:picLocks noChangeAspect="1"/>
          </p:cNvPicPr>
          <p:nvPr/>
        </p:nvPicPr>
        <p:blipFill>
          <a:blip r:embed="rId1"/>
          <a:stretch>
            <a:fillRect/>
          </a:stretch>
        </p:blipFill>
        <p:spPr>
          <a:xfrm>
            <a:off x="2057400" y="429768"/>
            <a:ext cx="128016" cy="128016"/>
          </a:xfrm>
          <a:prstGeom prst="rect">
            <a:avLst/>
          </a:prstGeom>
        </p:spPr>
      </p:pic>
      <p:sp>
        <p:nvSpPr>
          <p:cNvPr id="5" name="Text 2"/>
          <p:cNvSpPr txBox="1"/>
          <p:nvPr/>
        </p:nvSpPr>
        <p:spPr>
          <a:xfrm>
            <a:off x="548640" y="1188720"/>
            <a:ext cx="10972800" cy="82296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We start where claims touch us most: beauty.</a:t>
            </a:r>
            <a:endParaRPr lang="en-US" sz="3600" dirty="0"/>
          </a:p>
        </p:txBody>
      </p:sp>
      <p:sp>
        <p:nvSpPr>
          <p:cNvPr id="6" name="Shape 3"/>
          <p:cNvSpPr/>
          <p:nvPr/>
        </p:nvSpPr>
        <p:spPr>
          <a:xfrm>
            <a:off x="548640" y="2377440"/>
            <a:ext cx="1188720" cy="548640"/>
          </a:xfrm>
          <a:prstGeom prst="roundRect">
            <a:avLst>
              <a:gd name="adj" fmla="val 50000"/>
            </a:avLst>
          </a:prstGeom>
          <a:solidFill>
            <a:srgbClr val="F2B33D"/>
          </a:solidFill>
          <a:ln w="12700">
            <a:solidFill>
              <a:srgbClr val="F2B33D"/>
            </a:solidFill>
            <a:prstDash val="solid"/>
          </a:ln>
        </p:spPr>
      </p:sp>
      <p:sp>
        <p:nvSpPr>
          <p:cNvPr id="7" name="Text 4"/>
          <p:cNvSpPr txBox="1"/>
          <p:nvPr/>
        </p:nvSpPr>
        <p:spPr>
          <a:xfrm>
            <a:off x="548640" y="2377440"/>
            <a:ext cx="1188720" cy="548640"/>
          </a:xfrm>
          <a:prstGeom prst="rect">
            <a:avLst/>
          </a:prstGeom>
          <a:noFill/>
          <a:ln/>
        </p:spPr>
        <p:txBody>
          <a:bodyPr wrap="square" lIns="0" tIns="0" rIns="0" bIns="0" rtlCol="0" anchor="ctr"/>
          <a:lstStyle/>
          <a:p>
            <a:pPr algn="ctr" indent="0" marL="0">
              <a:buNone/>
            </a:pPr>
            <a:r>
              <a:rPr lang="en-US" sz="1700" b="1" dirty="0">
                <a:solidFill>
                  <a:srgbClr val="2B2420"/>
                </a:solidFill>
                <a:latin typeface="Calibri" pitchFamily="34" charset="0"/>
                <a:ea typeface="Calibri" pitchFamily="34" charset="-122"/>
                <a:cs typeface="Calibri" pitchFamily="34" charset="-120"/>
              </a:rPr>
              <a:t>Soap</a:t>
            </a:r>
            <a:endParaRPr lang="en-US" sz="1700" dirty="0"/>
          </a:p>
        </p:txBody>
      </p:sp>
      <p:sp>
        <p:nvSpPr>
          <p:cNvPr id="8" name="Shape 5"/>
          <p:cNvSpPr/>
          <p:nvPr/>
        </p:nvSpPr>
        <p:spPr>
          <a:xfrm>
            <a:off x="1938528" y="2377440"/>
            <a:ext cx="1234440" cy="548640"/>
          </a:xfrm>
          <a:prstGeom prst="roundRect">
            <a:avLst>
              <a:gd name="adj" fmla="val 50000"/>
            </a:avLst>
          </a:prstGeom>
          <a:solidFill>
            <a:srgbClr val="F2B33D"/>
          </a:solidFill>
          <a:ln w="12700">
            <a:solidFill>
              <a:srgbClr val="F2B33D"/>
            </a:solidFill>
            <a:prstDash val="solid"/>
          </a:ln>
        </p:spPr>
      </p:sp>
      <p:sp>
        <p:nvSpPr>
          <p:cNvPr id="9" name="Text 6"/>
          <p:cNvSpPr txBox="1"/>
          <p:nvPr/>
        </p:nvSpPr>
        <p:spPr>
          <a:xfrm>
            <a:off x="1938528" y="2377440"/>
            <a:ext cx="1234440" cy="548640"/>
          </a:xfrm>
          <a:prstGeom prst="rect">
            <a:avLst/>
          </a:prstGeom>
          <a:noFill/>
          <a:ln/>
        </p:spPr>
        <p:txBody>
          <a:bodyPr wrap="square" lIns="0" tIns="0" rIns="0" bIns="0" rtlCol="0" anchor="ctr"/>
          <a:lstStyle/>
          <a:p>
            <a:pPr algn="ctr" indent="0" marL="0">
              <a:buNone/>
            </a:pPr>
            <a:r>
              <a:rPr lang="en-US" sz="1700" b="1" dirty="0">
                <a:solidFill>
                  <a:srgbClr val="2B2420"/>
                </a:solidFill>
                <a:latin typeface="Calibri" pitchFamily="34" charset="0"/>
                <a:ea typeface="Calibri" pitchFamily="34" charset="-122"/>
                <a:cs typeface="Calibri" pitchFamily="34" charset="-120"/>
              </a:rPr>
              <a:t>Cream</a:t>
            </a:r>
            <a:endParaRPr lang="en-US" sz="1700" dirty="0"/>
          </a:p>
        </p:txBody>
      </p:sp>
      <p:sp>
        <p:nvSpPr>
          <p:cNvPr id="10" name="Shape 7"/>
          <p:cNvSpPr/>
          <p:nvPr/>
        </p:nvSpPr>
        <p:spPr>
          <a:xfrm>
            <a:off x="3374136" y="2377440"/>
            <a:ext cx="1508760" cy="548640"/>
          </a:xfrm>
          <a:prstGeom prst="roundRect">
            <a:avLst>
              <a:gd name="adj" fmla="val 50000"/>
            </a:avLst>
          </a:prstGeom>
          <a:solidFill>
            <a:srgbClr val="F2B33D"/>
          </a:solidFill>
          <a:ln w="12700">
            <a:solidFill>
              <a:srgbClr val="F2B33D"/>
            </a:solidFill>
            <a:prstDash val="solid"/>
          </a:ln>
        </p:spPr>
      </p:sp>
      <p:sp>
        <p:nvSpPr>
          <p:cNvPr id="11" name="Text 8"/>
          <p:cNvSpPr txBox="1"/>
          <p:nvPr/>
        </p:nvSpPr>
        <p:spPr>
          <a:xfrm>
            <a:off x="3374136" y="2377440"/>
            <a:ext cx="1508760" cy="548640"/>
          </a:xfrm>
          <a:prstGeom prst="rect">
            <a:avLst/>
          </a:prstGeom>
          <a:noFill/>
          <a:ln/>
        </p:spPr>
        <p:txBody>
          <a:bodyPr wrap="square" lIns="0" tIns="0" rIns="0" bIns="0" rtlCol="0" anchor="ctr"/>
          <a:lstStyle/>
          <a:p>
            <a:pPr algn="ctr" indent="0" marL="0">
              <a:buNone/>
            </a:pPr>
            <a:r>
              <a:rPr lang="en-US" sz="1700" b="1" dirty="0">
                <a:solidFill>
                  <a:srgbClr val="2B2420"/>
                </a:solidFill>
                <a:latin typeface="Calibri" pitchFamily="34" charset="0"/>
                <a:ea typeface="Calibri" pitchFamily="34" charset="-122"/>
                <a:cs typeface="Calibri" pitchFamily="34" charset="-120"/>
              </a:rPr>
              <a:t>Shampoo</a:t>
            </a:r>
            <a:endParaRPr lang="en-US" sz="1700" dirty="0"/>
          </a:p>
        </p:txBody>
      </p:sp>
      <p:sp>
        <p:nvSpPr>
          <p:cNvPr id="12" name="Shape 9"/>
          <p:cNvSpPr/>
          <p:nvPr/>
        </p:nvSpPr>
        <p:spPr>
          <a:xfrm>
            <a:off x="5084064" y="2377440"/>
            <a:ext cx="1645920" cy="548640"/>
          </a:xfrm>
          <a:prstGeom prst="roundRect">
            <a:avLst>
              <a:gd name="adj" fmla="val 50000"/>
            </a:avLst>
          </a:prstGeom>
          <a:solidFill>
            <a:srgbClr val="F2B33D"/>
          </a:solidFill>
          <a:ln w="12700">
            <a:solidFill>
              <a:srgbClr val="F2B33D"/>
            </a:solidFill>
            <a:prstDash val="solid"/>
          </a:ln>
        </p:spPr>
      </p:sp>
      <p:sp>
        <p:nvSpPr>
          <p:cNvPr id="13" name="Text 10"/>
          <p:cNvSpPr txBox="1"/>
          <p:nvPr/>
        </p:nvSpPr>
        <p:spPr>
          <a:xfrm>
            <a:off x="5084064" y="2377440"/>
            <a:ext cx="1645920" cy="548640"/>
          </a:xfrm>
          <a:prstGeom prst="rect">
            <a:avLst/>
          </a:prstGeom>
          <a:noFill/>
          <a:ln/>
        </p:spPr>
        <p:txBody>
          <a:bodyPr wrap="square" lIns="0" tIns="0" rIns="0" bIns="0" rtlCol="0" anchor="ctr"/>
          <a:lstStyle/>
          <a:p>
            <a:pPr algn="ctr" indent="0" marL="0">
              <a:buNone/>
            </a:pPr>
            <a:r>
              <a:rPr lang="en-US" sz="1700" b="1" dirty="0">
                <a:solidFill>
                  <a:srgbClr val="2B2420"/>
                </a:solidFill>
                <a:latin typeface="Calibri" pitchFamily="34" charset="0"/>
                <a:ea typeface="Calibri" pitchFamily="34" charset="-122"/>
                <a:cs typeface="Calibri" pitchFamily="34" charset="-120"/>
              </a:rPr>
              <a:t>Deodorant</a:t>
            </a:r>
            <a:endParaRPr lang="en-US" sz="1700" dirty="0"/>
          </a:p>
        </p:txBody>
      </p:sp>
      <p:sp>
        <p:nvSpPr>
          <p:cNvPr id="14" name="Shape 11"/>
          <p:cNvSpPr/>
          <p:nvPr/>
        </p:nvSpPr>
        <p:spPr>
          <a:xfrm>
            <a:off x="6931152" y="2377440"/>
            <a:ext cx="1463040" cy="548640"/>
          </a:xfrm>
          <a:prstGeom prst="roundRect">
            <a:avLst>
              <a:gd name="adj" fmla="val 50000"/>
            </a:avLst>
          </a:prstGeom>
          <a:solidFill>
            <a:srgbClr val="F2B33D"/>
          </a:solidFill>
          <a:ln w="12700">
            <a:solidFill>
              <a:srgbClr val="F2B33D"/>
            </a:solidFill>
            <a:prstDash val="solid"/>
          </a:ln>
        </p:spPr>
      </p:sp>
      <p:sp>
        <p:nvSpPr>
          <p:cNvPr id="15" name="Text 12"/>
          <p:cNvSpPr txBox="1"/>
          <p:nvPr/>
        </p:nvSpPr>
        <p:spPr>
          <a:xfrm>
            <a:off x="6931152" y="2377440"/>
            <a:ext cx="1463040" cy="548640"/>
          </a:xfrm>
          <a:prstGeom prst="rect">
            <a:avLst/>
          </a:prstGeom>
          <a:noFill/>
          <a:ln/>
        </p:spPr>
        <p:txBody>
          <a:bodyPr wrap="square" lIns="0" tIns="0" rIns="0" bIns="0" rtlCol="0" anchor="ctr"/>
          <a:lstStyle/>
          <a:p>
            <a:pPr algn="ctr" indent="0" marL="0">
              <a:buNone/>
            </a:pPr>
            <a:r>
              <a:rPr lang="en-US" sz="1700" b="1" dirty="0">
                <a:solidFill>
                  <a:srgbClr val="2B2420"/>
                </a:solidFill>
                <a:latin typeface="Calibri" pitchFamily="34" charset="0"/>
                <a:ea typeface="Calibri" pitchFamily="34" charset="-122"/>
                <a:cs typeface="Calibri" pitchFamily="34" charset="-120"/>
              </a:rPr>
              <a:t>Perfume</a:t>
            </a:r>
            <a:endParaRPr lang="en-US" sz="1700" dirty="0"/>
          </a:p>
        </p:txBody>
      </p:sp>
      <p:sp>
        <p:nvSpPr>
          <p:cNvPr id="16" name="Text 13"/>
          <p:cNvSpPr txBox="1"/>
          <p:nvPr/>
        </p:nvSpPr>
        <p:spPr>
          <a:xfrm>
            <a:off x="548640" y="3246120"/>
            <a:ext cx="10972800" cy="411480"/>
          </a:xfrm>
          <a:prstGeom prst="rect">
            <a:avLst/>
          </a:prstGeom>
          <a:noFill/>
          <a:ln/>
        </p:spPr>
        <p:txBody>
          <a:bodyPr wrap="square" lIns="0" tIns="0" rIns="0" bIns="0" rtlCol="0" anchor="ctr"/>
          <a:lstStyle/>
          <a:p>
            <a:pPr indent="0" marL="0">
              <a:buNone/>
            </a:pPr>
            <a:r>
              <a:rPr lang="en-US" sz="1800" dirty="0">
                <a:solidFill>
                  <a:srgbClr val="D9CFC6"/>
                </a:solidFill>
                <a:latin typeface="Calibri" pitchFamily="34" charset="0"/>
                <a:ea typeface="Calibri" pitchFamily="34" charset="-122"/>
                <a:cs typeface="Calibri" pitchFamily="34" charset="-120"/>
              </a:rPr>
              <a:t>Today’s demo checks real beauty claims, live.</a:t>
            </a:r>
            <a:endParaRPr lang="en-US" sz="1800" dirty="0"/>
          </a:p>
        </p:txBody>
      </p:sp>
      <p:sp>
        <p:nvSpPr>
          <p:cNvPr id="17" name="Text 14"/>
          <p:cNvSpPr txBox="1"/>
          <p:nvPr/>
        </p:nvSpPr>
        <p:spPr>
          <a:xfrm>
            <a:off x="548640" y="4206240"/>
            <a:ext cx="10515600" cy="914400"/>
          </a:xfrm>
          <a:prstGeom prst="rect">
            <a:avLst/>
          </a:prstGeom>
          <a:noFill/>
          <a:ln/>
        </p:spPr>
        <p:txBody>
          <a:bodyPr wrap="square" lIns="0" tIns="0" rIns="0" bIns="0" rtlCol="0" anchor="ctr"/>
          <a:lstStyle/>
          <a:p>
            <a:pPr indent="0" marL="0">
              <a:buNone/>
            </a:pPr>
            <a:r>
              <a:rPr lang="en-US" sz="2800" i="1" dirty="0">
                <a:solidFill>
                  <a:srgbClr val="F2B33D"/>
                </a:solidFill>
                <a:latin typeface="Cambria" pitchFamily="34" charset="0"/>
                <a:ea typeface="Cambria" pitchFamily="34" charset="-122"/>
                <a:cs typeface="Cambria" pitchFamily="34" charset="-120"/>
              </a:rPr>
              <a:t>Now that you can see what is behind a claim, what will you check first?</a:t>
            </a:r>
            <a:endParaRPr lang="en-US" sz="2800" dirty="0"/>
          </a:p>
        </p:txBody>
      </p:sp>
      <p:sp>
        <p:nvSpPr>
          <p:cNvPr id="18" name="Text 15"/>
          <p:cNvSpPr txBox="1"/>
          <p:nvPr/>
        </p:nvSpPr>
        <p:spPr>
          <a:xfrm>
            <a:off x="548640" y="6035040"/>
            <a:ext cx="10972800" cy="320040"/>
          </a:xfrm>
          <a:prstGeom prst="rect">
            <a:avLst/>
          </a:prstGeom>
          <a:noFill/>
          <a:ln/>
        </p:spPr>
        <p:txBody>
          <a:bodyPr wrap="square" lIns="0" tIns="0" rIns="0" bIns="0" rtlCol="0" anchor="ctr"/>
          <a:lstStyle/>
          <a:p>
            <a:pPr indent="0" marL="0">
              <a:buNone/>
            </a:pPr>
            <a:r>
              <a:rPr lang="en-US" sz="1400" dirty="0">
                <a:solidFill>
                  <a:srgbClr val="B7AAA0"/>
                </a:solidFill>
                <a:latin typeface="Calibri" pitchFamily="34" charset="0"/>
                <a:ea typeface="Calibri" pitchFamily="34" charset="-122"/>
                <a:cs typeface="Calibri" pitchFamily="34" charset="-120"/>
              </a:rPr>
              <a:t>[Team names]   ·   [Contact]   ·   [Our ask]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ProofTrace pitch</dc:title>
  <dc:subject>PptxGenJS Presentation</dc:subject>
  <dc:creator>PptxGenJS</dc:creator>
  <cp:lastModifiedBy>PptxGenJS</cp:lastModifiedBy>
  <cp:revision>1</cp:revision>
  <dcterms:created xsi:type="dcterms:W3CDTF">2026-09-26T15:14:45Z</dcterms:created>
  <dcterms:modified xsi:type="dcterms:W3CDTF">2026-09-26T15:14:45Z</dcterms:modified>
</cp:coreProperties>
</file>